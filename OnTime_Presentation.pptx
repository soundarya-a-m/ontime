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914400"/>
            <a:ext cx="10058400" cy="1097280"/>
          </a:xfrm>
          <a:prstGeom prst="rect">
            <a:avLst/>
          </a:prstGeom>
          <a:noFill/>
        </p:spPr>
        <p:txBody>
          <a:bodyPr wrap="none">
            <a:spAutoFit/>
          </a:bodyPr>
          <a:lstStyle/>
          <a:p>
            <a:pPr algn="l">
              <a:defRPr sz="6000" b="1">
                <a:solidFill>
                  <a:srgbClr val="38BDF8"/>
                </a:solidFill>
                <a:latin typeface="Segoe UI"/>
              </a:defRPr>
            </a:pPr>
            <a:r>
              <a:t>OnTime</a:t>
            </a:r>
          </a:p>
          <a:p>
            <a:pPr algn="l">
              <a:spcBef>
                <a:spcPts val="800"/>
              </a:spcBef>
              <a:spcAft>
                <a:spcPts val="400"/>
              </a:spcAft>
              <a:defRPr sz="2800" b="0">
                <a:solidFill>
                  <a:srgbClr val="FFFFFF"/>
                </a:solidFill>
                <a:latin typeface="Segoe UI"/>
              </a:defRPr>
            </a:pPr>
            <a:r>
              <a:t>Real-Time Bus Tracking System</a:t>
            </a:r>
          </a:p>
        </p:txBody>
      </p:sp>
      <p:sp>
        <p:nvSpPr>
          <p:cNvPr id="3" name="TextBox 2"/>
          <p:cNvSpPr txBox="1"/>
          <p:nvPr/>
        </p:nvSpPr>
        <p:spPr>
          <a:xfrm>
            <a:off x="914400" y="2743200"/>
            <a:ext cx="10058400" cy="457200"/>
          </a:xfrm>
          <a:prstGeom prst="rect">
            <a:avLst/>
          </a:prstGeom>
          <a:noFill/>
        </p:spPr>
        <p:txBody>
          <a:bodyPr wrap="none">
            <a:spAutoFit/>
          </a:bodyPr>
          <a:lstStyle/>
          <a:p>
            <a:pPr algn="l">
              <a:defRPr sz="1600" b="0">
                <a:solidFill>
                  <a:srgbClr val="94A3B8"/>
                </a:solidFill>
                <a:latin typeface="Segoe UI"/>
              </a:defRPr>
            </a:pPr>
            <a:r>
              <a:t>GPS Tracking  •  Route Visualization  •  ETA Prediction  •  Seat Booking</a:t>
            </a:r>
          </a:p>
        </p:txBody>
      </p:sp>
      <p:sp>
        <p:nvSpPr>
          <p:cNvPr id="4" name="Rounded Rectangle 3"/>
          <p:cNvSpPr/>
          <p:nvPr/>
        </p:nvSpPr>
        <p:spPr>
          <a:xfrm>
            <a:off x="914400" y="3657600"/>
            <a:ext cx="5029200" cy="256032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794760"/>
            <a:ext cx="4572000" cy="2377440"/>
          </a:xfrm>
          <a:prstGeom prst="rect">
            <a:avLst/>
          </a:prstGeom>
          <a:noFill/>
        </p:spPr>
        <p:txBody>
          <a:bodyPr wrap="square">
            <a:spAutoFit/>
          </a:bodyPr>
          <a:lstStyle/>
          <a:p>
            <a:pPr algn="l">
              <a:defRPr sz="1400" b="1">
                <a:solidFill>
                  <a:srgbClr val="38BDF8"/>
                </a:solidFill>
                <a:latin typeface="Segoe UI"/>
              </a:defRPr>
            </a:pPr>
            <a:r>
              <a:t>Submitted By</a:t>
            </a:r>
          </a:p>
          <a:p>
            <a:pPr algn="l">
              <a:spcBef>
                <a:spcPts val="600"/>
              </a:spcBef>
              <a:spcAft>
                <a:spcPts val="400"/>
              </a:spcAft>
              <a:defRPr sz="1600" b="0">
                <a:solidFill>
                  <a:srgbClr val="FFFFFF"/>
                </a:solidFill>
                <a:latin typeface="Segoe UI"/>
              </a:defRPr>
            </a:pPr>
            <a:r>
              <a:t>1.  Santhosh Kumar R S</a:t>
            </a:r>
          </a:p>
          <a:p>
            <a:pPr algn="l">
              <a:spcBef>
                <a:spcPts val="600"/>
              </a:spcBef>
              <a:spcAft>
                <a:spcPts val="400"/>
              </a:spcAft>
              <a:defRPr sz="1600" b="0">
                <a:solidFill>
                  <a:srgbClr val="FFFFFF"/>
                </a:solidFill>
                <a:latin typeface="Segoe UI"/>
              </a:defRPr>
            </a:pPr>
            <a:r>
              <a:t>2.  [Student Name 2]</a:t>
            </a:r>
          </a:p>
          <a:p>
            <a:pPr algn="l">
              <a:spcBef>
                <a:spcPts val="600"/>
              </a:spcBef>
              <a:spcAft>
                <a:spcPts val="400"/>
              </a:spcAft>
              <a:defRPr sz="1600" b="0">
                <a:solidFill>
                  <a:srgbClr val="FFFFFF"/>
                </a:solidFill>
                <a:latin typeface="Segoe UI"/>
              </a:defRPr>
            </a:pPr>
            <a:r>
              <a:t>3.  [Student Name 3]</a:t>
            </a:r>
          </a:p>
          <a:p>
            <a:pPr algn="l">
              <a:spcBef>
                <a:spcPts val="600"/>
              </a:spcBef>
              <a:spcAft>
                <a:spcPts val="400"/>
              </a:spcAft>
              <a:defRPr sz="1600" b="0">
                <a:solidFill>
                  <a:srgbClr val="FFFFFF"/>
                </a:solidFill>
                <a:latin typeface="Segoe UI"/>
              </a:defRPr>
            </a:pPr>
            <a:r>
              <a:t>4.  [Student Name 4]</a:t>
            </a:r>
          </a:p>
        </p:txBody>
      </p:sp>
      <p:sp>
        <p:nvSpPr>
          <p:cNvPr id="6" name="Rounded Rectangle 5"/>
          <p:cNvSpPr/>
          <p:nvPr/>
        </p:nvSpPr>
        <p:spPr>
          <a:xfrm>
            <a:off x="6400800" y="3657600"/>
            <a:ext cx="5029200" cy="256032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3794760"/>
            <a:ext cx="4572000" cy="2377440"/>
          </a:xfrm>
          <a:prstGeom prst="rect">
            <a:avLst/>
          </a:prstGeom>
          <a:noFill/>
        </p:spPr>
        <p:txBody>
          <a:bodyPr wrap="square">
            <a:spAutoFit/>
          </a:bodyPr>
          <a:lstStyle/>
          <a:p>
            <a:pPr algn="l">
              <a:defRPr sz="1400" b="1">
                <a:solidFill>
                  <a:srgbClr val="A78BFA"/>
                </a:solidFill>
                <a:latin typeface="Segoe UI"/>
              </a:defRPr>
            </a:pPr>
            <a:r>
              <a:t>Submitted To</a:t>
            </a:r>
          </a:p>
          <a:p>
            <a:pPr algn="l">
              <a:spcBef>
                <a:spcPts val="600"/>
              </a:spcBef>
              <a:spcAft>
                <a:spcPts val="400"/>
              </a:spcAft>
              <a:defRPr sz="1600" b="1">
                <a:solidFill>
                  <a:srgbClr val="FFFFFF"/>
                </a:solidFill>
                <a:latin typeface="Segoe UI"/>
              </a:defRPr>
            </a:pPr>
            <a:r>
              <a:t>[Guide / Professor Name]</a:t>
            </a:r>
          </a:p>
          <a:p>
            <a:pPr algn="l">
              <a:spcBef>
                <a:spcPts val="600"/>
              </a:spcBef>
              <a:spcAft>
                <a:spcPts val="400"/>
              </a:spcAft>
              <a:defRPr sz="1400" b="0">
                <a:solidFill>
                  <a:srgbClr val="94A3B8"/>
                </a:solidFill>
                <a:latin typeface="Segoe UI"/>
              </a:defRPr>
            </a:pPr>
            <a:r>
              <a:t>[Designation]</a:t>
            </a:r>
          </a:p>
          <a:p>
            <a:pPr algn="l">
              <a:spcBef>
                <a:spcPts val="600"/>
              </a:spcBef>
              <a:spcAft>
                <a:spcPts val="400"/>
              </a:spcAft>
              <a:defRPr sz="1400" b="0">
                <a:solidFill>
                  <a:srgbClr val="94A3B8"/>
                </a:solidFill>
                <a:latin typeface="Segoe UI"/>
              </a:defRPr>
            </a:pPr>
            <a:r>
              <a:t>[Department / College Name]</a:t>
            </a:r>
          </a:p>
        </p:txBody>
      </p:sp>
      <p:sp>
        <p:nvSpPr>
          <p:cNvPr id="8" name="TextBox 7"/>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Abstract</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572000"/>
          </a:xfrm>
          <a:prstGeom prst="rect">
            <a:avLst/>
          </a:prstGeom>
          <a:noFill/>
        </p:spPr>
        <p:txBody>
          <a:bodyPr wrap="square">
            <a:spAutoFit/>
          </a:bodyPr>
          <a:lstStyle/>
          <a:p>
            <a:pPr algn="l">
              <a:defRPr sz="1600" b="0">
                <a:solidFill>
                  <a:srgbClr val="CBD5E1"/>
                </a:solidFill>
                <a:latin typeface="Segoe UI"/>
              </a:defRPr>
            </a:pPr>
            <a:r>
              <a:t>OnTime is a comprehensive full-stack web application designed to revolutionize urban public transportation through real-time bus tracking. Built on the MERN stack (MongoDB, Express.js, React.js, Node.js), the system leverages WebSocket technology via Socket.IO to deliver live GPS location updates every 3–5 seconds, enabling passengers to track buses on an interactive Mapbox-powered map.</a:t>
            </a:r>
            <a:br/>
            <a:br/>
            <a:r>
              <a:t>The platform features an intelligent ETA prediction engine that calculates arrival times based on real-time speed and distance metrics. A complete seat booking module allows passengers to select seats, generate digital tickets, and manage their booking history.</a:t>
            </a:r>
            <a:br/>
            <a:br/>
            <a:r>
              <a:t>Role-based dashboards provide tailored experiences for three user types: Passengers can track buses and book tickets; Drivers can start/end trips with automatic GPS sharing; and Admins can manage buses, routes, driver assignments, and monitor system analytics. Security is ensured through JWT authentication, bcrypt password hashing, CORS protection, and API rate limiting.</a:t>
            </a:r>
            <a:br/>
            <a:br/>
            <a:r>
              <a:t>The application embodies a modern smart-city aesthetic with glassmorphism effects, dark-mode gradients, and a fully responsive design optimized for both desktop and mobile devices.</a:t>
            </a:r>
          </a:p>
        </p:txBody>
      </p:sp>
      <p:sp>
        <p:nvSpPr>
          <p:cNvPr id="6" name="TextBox 5"/>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Existing System / Literature Review</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37360"/>
            <a:ext cx="3474720" cy="411480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47472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3017520" cy="3840480"/>
          </a:xfrm>
          <a:prstGeom prst="rect">
            <a:avLst/>
          </a:prstGeom>
          <a:noFill/>
        </p:spPr>
        <p:txBody>
          <a:bodyPr wrap="square">
            <a:spAutoFit/>
          </a:bodyPr>
          <a:lstStyle/>
          <a:p>
            <a:pPr algn="l">
              <a:defRPr sz="1800" b="1">
                <a:solidFill>
                  <a:srgbClr val="38BDF8"/>
                </a:solidFill>
                <a:latin typeface="Segoe UI"/>
              </a:defRPr>
            </a:pPr>
            <a:r>
              <a:t>Google Maps Transit</a:t>
            </a:r>
          </a:p>
          <a:p>
            <a:pPr algn="l">
              <a:spcBef>
                <a:spcPts val="600"/>
              </a:spcBef>
              <a:spcAft>
                <a:spcPts val="400"/>
              </a:spcAft>
              <a:defRPr sz="1400" b="0">
                <a:solidFill>
                  <a:srgbClr val="CBD5E1"/>
                </a:solidFill>
                <a:latin typeface="Segoe UI"/>
              </a:defRPr>
            </a:pPr>
            <a:r>
              <a:t>•  Shows static schedule-based transit data</a:t>
            </a:r>
          </a:p>
          <a:p>
            <a:pPr algn="l">
              <a:spcBef>
                <a:spcPts val="600"/>
              </a:spcBef>
              <a:spcAft>
                <a:spcPts val="400"/>
              </a:spcAft>
              <a:defRPr sz="1400" b="0">
                <a:solidFill>
                  <a:srgbClr val="CBD5E1"/>
                </a:solidFill>
                <a:latin typeface="Segoe UI"/>
              </a:defRPr>
            </a:pPr>
            <a:r>
              <a:t>•  Limited to cities with GTFS data feeds</a:t>
            </a:r>
          </a:p>
          <a:p>
            <a:pPr algn="l">
              <a:spcBef>
                <a:spcPts val="600"/>
              </a:spcBef>
              <a:spcAft>
                <a:spcPts val="400"/>
              </a:spcAft>
              <a:defRPr sz="1400" b="0">
                <a:solidFill>
                  <a:srgbClr val="CBD5E1"/>
                </a:solidFill>
                <a:latin typeface="Segoe UI"/>
              </a:defRPr>
            </a:pPr>
            <a:r>
              <a:t>•  No seat booking or driver interaction</a:t>
            </a:r>
          </a:p>
          <a:p>
            <a:pPr algn="l">
              <a:spcBef>
                <a:spcPts val="600"/>
              </a:spcBef>
              <a:spcAft>
                <a:spcPts val="400"/>
              </a:spcAft>
              <a:defRPr sz="1400" b="0">
                <a:solidFill>
                  <a:srgbClr val="CBD5E1"/>
                </a:solidFill>
                <a:latin typeface="Segoe UI"/>
              </a:defRPr>
            </a:pPr>
            <a:r>
              <a:t>•  Dependent on third-party transit agencies</a:t>
            </a:r>
          </a:p>
        </p:txBody>
      </p:sp>
      <p:sp>
        <p:nvSpPr>
          <p:cNvPr id="8" name="Rounded Rectangle 7"/>
          <p:cNvSpPr/>
          <p:nvPr/>
        </p:nvSpPr>
        <p:spPr>
          <a:xfrm>
            <a:off x="4480559" y="1737360"/>
            <a:ext cx="3474720" cy="411480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59" y="1737360"/>
            <a:ext cx="347472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59" y="1965960"/>
            <a:ext cx="3017520" cy="3840480"/>
          </a:xfrm>
          <a:prstGeom prst="rect">
            <a:avLst/>
          </a:prstGeom>
          <a:noFill/>
        </p:spPr>
        <p:txBody>
          <a:bodyPr wrap="square">
            <a:spAutoFit/>
          </a:bodyPr>
          <a:lstStyle/>
          <a:p>
            <a:pPr algn="l">
              <a:defRPr sz="1800" b="1">
                <a:solidFill>
                  <a:srgbClr val="A78BFA"/>
                </a:solidFill>
                <a:latin typeface="Segoe UI"/>
              </a:defRPr>
            </a:pPr>
            <a:r>
              <a:t>City-Specific Apps (e.g., BMTC, DTC)</a:t>
            </a:r>
          </a:p>
          <a:p>
            <a:pPr algn="l">
              <a:spcBef>
                <a:spcPts val="600"/>
              </a:spcBef>
              <a:spcAft>
                <a:spcPts val="400"/>
              </a:spcAft>
              <a:defRPr sz="1400" b="0">
                <a:solidFill>
                  <a:srgbClr val="CBD5E1"/>
                </a:solidFill>
                <a:latin typeface="Segoe UI"/>
              </a:defRPr>
            </a:pPr>
            <a:r>
              <a:t>•  Tied to a single city's transport authority</a:t>
            </a:r>
          </a:p>
          <a:p>
            <a:pPr algn="l">
              <a:spcBef>
                <a:spcPts val="600"/>
              </a:spcBef>
              <a:spcAft>
                <a:spcPts val="400"/>
              </a:spcAft>
              <a:defRPr sz="1400" b="0">
                <a:solidFill>
                  <a:srgbClr val="CBD5E1"/>
                </a:solidFill>
                <a:latin typeface="Segoe UI"/>
              </a:defRPr>
            </a:pPr>
            <a:r>
              <a:t>•  Often lack real-time GPS tracking</a:t>
            </a:r>
          </a:p>
          <a:p>
            <a:pPr algn="l">
              <a:spcBef>
                <a:spcPts val="600"/>
              </a:spcBef>
              <a:spcAft>
                <a:spcPts val="400"/>
              </a:spcAft>
              <a:defRPr sz="1400" b="0">
                <a:solidFill>
                  <a:srgbClr val="CBD5E1"/>
                </a:solidFill>
                <a:latin typeface="Segoe UI"/>
              </a:defRPr>
            </a:pPr>
            <a:r>
              <a:t>•  No role-based management dashboards</a:t>
            </a:r>
          </a:p>
          <a:p>
            <a:pPr algn="l">
              <a:spcBef>
                <a:spcPts val="600"/>
              </a:spcBef>
              <a:spcAft>
                <a:spcPts val="400"/>
              </a:spcAft>
              <a:defRPr sz="1400" b="0">
                <a:solidFill>
                  <a:srgbClr val="CBD5E1"/>
                </a:solidFill>
                <a:latin typeface="Segoe UI"/>
              </a:defRPr>
            </a:pPr>
            <a:r>
              <a:t>•  Fragmented user experience</a:t>
            </a:r>
          </a:p>
        </p:txBody>
      </p:sp>
      <p:sp>
        <p:nvSpPr>
          <p:cNvPr id="11" name="Rounded Rectangle 10"/>
          <p:cNvSpPr/>
          <p:nvPr/>
        </p:nvSpPr>
        <p:spPr>
          <a:xfrm>
            <a:off x="8229598" y="1737360"/>
            <a:ext cx="3474720" cy="411480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598" y="1737360"/>
            <a:ext cx="347472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8" y="1965960"/>
            <a:ext cx="3017520" cy="3840480"/>
          </a:xfrm>
          <a:prstGeom prst="rect">
            <a:avLst/>
          </a:prstGeom>
          <a:noFill/>
        </p:spPr>
        <p:txBody>
          <a:bodyPr wrap="square">
            <a:spAutoFit/>
          </a:bodyPr>
          <a:lstStyle/>
          <a:p>
            <a:pPr algn="l">
              <a:defRPr sz="1800" b="1">
                <a:solidFill>
                  <a:srgbClr val="4ADE80"/>
                </a:solidFill>
                <a:latin typeface="Segoe UI"/>
              </a:defRPr>
            </a:pPr>
            <a:r>
              <a:t>SMS / IVRS-Based Systems</a:t>
            </a:r>
          </a:p>
          <a:p>
            <a:pPr algn="l">
              <a:spcBef>
                <a:spcPts val="600"/>
              </a:spcBef>
              <a:spcAft>
                <a:spcPts val="400"/>
              </a:spcAft>
              <a:defRPr sz="1400" b="0">
                <a:solidFill>
                  <a:srgbClr val="CBD5E1"/>
                </a:solidFill>
                <a:latin typeface="Segoe UI"/>
              </a:defRPr>
            </a:pPr>
            <a:r>
              <a:t>•  Users must manually request bus status</a:t>
            </a:r>
          </a:p>
          <a:p>
            <a:pPr algn="l">
              <a:spcBef>
                <a:spcPts val="600"/>
              </a:spcBef>
              <a:spcAft>
                <a:spcPts val="400"/>
              </a:spcAft>
              <a:defRPr sz="1400" b="0">
                <a:solidFill>
                  <a:srgbClr val="CBD5E1"/>
                </a:solidFill>
                <a:latin typeface="Segoe UI"/>
              </a:defRPr>
            </a:pPr>
            <a:r>
              <a:t>•  No visual map or route visualization</a:t>
            </a:r>
          </a:p>
          <a:p>
            <a:pPr algn="l">
              <a:spcBef>
                <a:spcPts val="600"/>
              </a:spcBef>
              <a:spcAft>
                <a:spcPts val="400"/>
              </a:spcAft>
              <a:defRPr sz="1400" b="0">
                <a:solidFill>
                  <a:srgbClr val="CBD5E1"/>
                </a:solidFill>
                <a:latin typeface="Segoe UI"/>
              </a:defRPr>
            </a:pPr>
            <a:r>
              <a:t>•  High latency in information delivery</a:t>
            </a:r>
          </a:p>
          <a:p>
            <a:pPr algn="l">
              <a:spcBef>
                <a:spcPts val="600"/>
              </a:spcBef>
              <a:spcAft>
                <a:spcPts val="400"/>
              </a:spcAft>
              <a:defRPr sz="1400" b="0">
                <a:solidFill>
                  <a:srgbClr val="CBD5E1"/>
                </a:solidFill>
                <a:latin typeface="Segoe UI"/>
              </a:defRPr>
            </a:pPr>
            <a:r>
              <a:t>•  No booking capabilities</a:t>
            </a:r>
          </a:p>
        </p:txBody>
      </p:sp>
      <p:sp>
        <p:nvSpPr>
          <p:cNvPr id="14" name="TextBox 13"/>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Disadvantages of Existing System</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572000"/>
          </a:xfrm>
          <a:prstGeom prst="rect">
            <a:avLst/>
          </a:prstGeom>
          <a:noFill/>
        </p:spPr>
        <p:txBody>
          <a:bodyPr wrap="square">
            <a:spAutoFit/>
          </a:bodyPr>
          <a:lstStyle/>
          <a:p>
            <a:pPr algn="l">
              <a:defRPr sz="1400" b="0">
                <a:solidFill>
                  <a:srgbClr val="CBD5E1"/>
                </a:solidFill>
                <a:latin typeface="Segoe UI"/>
              </a:defRPr>
            </a:pPr>
          </a:p>
          <a:p>
            <a:pPr>
              <a:spcBef>
                <a:spcPts val="1000"/>
              </a:spcBef>
              <a:spcAft>
                <a:spcPts val="400"/>
              </a:spcAft>
            </a:pPr>
            <a:r>
              <a:rPr sz="1600" b="1">
                <a:solidFill>
                  <a:srgbClr val="F87171"/>
                </a:solidFill>
                <a:latin typeface="Segoe UI"/>
              </a:rPr>
              <a:t>  ✗   </a:t>
            </a:r>
            <a:r>
              <a:rPr sz="1500">
                <a:solidFill>
                  <a:srgbClr val="CBD5E1"/>
                </a:solidFill>
                <a:latin typeface="Segoe UI"/>
              </a:rPr>
              <a:t>No Real-Time Tracking — Passengers rely on fixed timetables with no live location data.</a:t>
            </a:r>
          </a:p>
          <a:p>
            <a:pPr>
              <a:spcBef>
                <a:spcPts val="1000"/>
              </a:spcBef>
              <a:spcAft>
                <a:spcPts val="400"/>
              </a:spcAft>
            </a:pPr>
            <a:r>
              <a:rPr sz="1600" b="1">
                <a:solidFill>
                  <a:srgbClr val="F87171"/>
                </a:solidFill>
                <a:latin typeface="Segoe UI"/>
              </a:rPr>
              <a:t>  ✗   </a:t>
            </a:r>
            <a:r>
              <a:rPr sz="1500">
                <a:solidFill>
                  <a:srgbClr val="CBD5E1"/>
                </a:solidFill>
                <a:latin typeface="Segoe UI"/>
              </a:rPr>
              <a:t>Inaccurate ETAs — Schedules don't account for traffic, breakdowns, or route deviations.</a:t>
            </a:r>
          </a:p>
          <a:p>
            <a:pPr>
              <a:spcBef>
                <a:spcPts val="1000"/>
              </a:spcBef>
              <a:spcAft>
                <a:spcPts val="400"/>
              </a:spcAft>
            </a:pPr>
            <a:r>
              <a:rPr sz="1600" b="1">
                <a:solidFill>
                  <a:srgbClr val="F87171"/>
                </a:solidFill>
                <a:latin typeface="Segoe UI"/>
              </a:rPr>
              <a:t>  ✗   </a:t>
            </a:r>
            <a:r>
              <a:rPr sz="1500">
                <a:solidFill>
                  <a:srgbClr val="CBD5E1"/>
                </a:solidFill>
                <a:latin typeface="Segoe UI"/>
              </a:rPr>
              <a:t>No Seat Booking — Passengers cannot reserve seats, leading to overcrowding and uncertainty.</a:t>
            </a:r>
          </a:p>
          <a:p>
            <a:pPr>
              <a:spcBef>
                <a:spcPts val="1000"/>
              </a:spcBef>
              <a:spcAft>
                <a:spcPts val="400"/>
              </a:spcAft>
            </a:pPr>
            <a:r>
              <a:rPr sz="1600" b="1">
                <a:solidFill>
                  <a:srgbClr val="F87171"/>
                </a:solidFill>
                <a:latin typeface="Segoe UI"/>
              </a:rPr>
              <a:t>  ✗   </a:t>
            </a:r>
            <a:r>
              <a:rPr sz="1500">
                <a:solidFill>
                  <a:srgbClr val="CBD5E1"/>
                </a:solidFill>
                <a:latin typeface="Segoe UI"/>
              </a:rPr>
              <a:t>Lack of Role-Based Dashboards — No unified platform for drivers, admins, and passengers.</a:t>
            </a:r>
          </a:p>
          <a:p>
            <a:pPr>
              <a:spcBef>
                <a:spcPts val="1000"/>
              </a:spcBef>
              <a:spcAft>
                <a:spcPts val="400"/>
              </a:spcAft>
            </a:pPr>
            <a:r>
              <a:rPr sz="1600" b="1">
                <a:solidFill>
                  <a:srgbClr val="F87171"/>
                </a:solidFill>
                <a:latin typeface="Segoe UI"/>
              </a:rPr>
              <a:t>  ✗   </a:t>
            </a:r>
            <a:r>
              <a:rPr sz="1500">
                <a:solidFill>
                  <a:srgbClr val="CBD5E1"/>
                </a:solidFill>
                <a:latin typeface="Segoe UI"/>
              </a:rPr>
              <a:t>Poor Scalability — City-specific solutions cannot be adapted to other regions easily.</a:t>
            </a:r>
          </a:p>
          <a:p>
            <a:pPr>
              <a:spcBef>
                <a:spcPts val="1000"/>
              </a:spcBef>
              <a:spcAft>
                <a:spcPts val="400"/>
              </a:spcAft>
            </a:pPr>
            <a:r>
              <a:rPr sz="1600" b="1">
                <a:solidFill>
                  <a:srgbClr val="F87171"/>
                </a:solidFill>
                <a:latin typeface="Segoe UI"/>
              </a:rPr>
              <a:t>  ✗   </a:t>
            </a:r>
            <a:r>
              <a:rPr sz="1500">
                <a:solidFill>
                  <a:srgbClr val="CBD5E1"/>
                </a:solidFill>
                <a:latin typeface="Segoe UI"/>
              </a:rPr>
              <a:t>No Driver Accountability — No mechanism to monitor driver trips or routes in real time.</a:t>
            </a:r>
          </a:p>
          <a:p>
            <a:pPr>
              <a:spcBef>
                <a:spcPts val="1000"/>
              </a:spcBef>
              <a:spcAft>
                <a:spcPts val="400"/>
              </a:spcAft>
            </a:pPr>
            <a:r>
              <a:rPr sz="1600" b="1">
                <a:solidFill>
                  <a:srgbClr val="F87171"/>
                </a:solidFill>
                <a:latin typeface="Segoe UI"/>
              </a:rPr>
              <a:t>  ✗   </a:t>
            </a:r>
            <a:r>
              <a:rPr sz="1500">
                <a:solidFill>
                  <a:srgbClr val="CBD5E1"/>
                </a:solidFill>
                <a:latin typeface="Segoe UI"/>
              </a:rPr>
              <a:t>Fragmented Systems — Separate apps for tracking, booking, and management create confusion.</a:t>
            </a:r>
          </a:p>
          <a:p>
            <a:pPr>
              <a:spcBef>
                <a:spcPts val="1000"/>
              </a:spcBef>
              <a:spcAft>
                <a:spcPts val="400"/>
              </a:spcAft>
            </a:pPr>
            <a:r>
              <a:rPr sz="1600" b="1">
                <a:solidFill>
                  <a:srgbClr val="F87171"/>
                </a:solidFill>
                <a:latin typeface="Segoe UI"/>
              </a:rPr>
              <a:t>  ✗   </a:t>
            </a:r>
            <a:r>
              <a:rPr sz="1500">
                <a:solidFill>
                  <a:srgbClr val="CBD5E1"/>
                </a:solidFill>
                <a:latin typeface="Segoe UI"/>
              </a:rPr>
              <a:t>Limited Mobile Responsiveness — Many existing systems are not optimized for mobile devices.</a:t>
            </a:r>
          </a:p>
        </p:txBody>
      </p:sp>
      <p:sp>
        <p:nvSpPr>
          <p:cNvPr id="6" name="TextBox 5"/>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Proposed System — OnTime</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37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47472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3017520" cy="1645920"/>
          </a:xfrm>
          <a:prstGeom prst="rect">
            <a:avLst/>
          </a:prstGeom>
          <a:noFill/>
        </p:spPr>
        <p:txBody>
          <a:bodyPr wrap="square">
            <a:spAutoFit/>
          </a:bodyPr>
          <a:lstStyle/>
          <a:p>
            <a:pPr algn="l">
              <a:defRPr sz="1800" b="1">
                <a:solidFill>
                  <a:srgbClr val="38BDF8"/>
                </a:solidFill>
                <a:latin typeface="Segoe UI"/>
              </a:defRPr>
            </a:pPr>
            <a:r>
              <a:t>Real-Time GPS Tracking</a:t>
            </a:r>
          </a:p>
          <a:p>
            <a:pPr algn="l">
              <a:spcBef>
                <a:spcPts val="1000"/>
              </a:spcBef>
              <a:spcAft>
                <a:spcPts val="400"/>
              </a:spcAft>
              <a:defRPr sz="1400" b="0">
                <a:solidFill>
                  <a:srgbClr val="CBD5E1"/>
                </a:solidFill>
                <a:latin typeface="Segoe UI"/>
              </a:defRPr>
            </a:pPr>
            <a:r>
              <a:t>Live bus location updates every 3–5 sec via Socket.IO WebSockets.</a:t>
            </a:r>
          </a:p>
        </p:txBody>
      </p:sp>
      <p:sp>
        <p:nvSpPr>
          <p:cNvPr id="8" name="Rounded Rectangle 7"/>
          <p:cNvSpPr/>
          <p:nvPr/>
        </p:nvSpPr>
        <p:spPr>
          <a:xfrm>
            <a:off x="4480559" y="1737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59" y="1737360"/>
            <a:ext cx="347472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59" y="1965960"/>
            <a:ext cx="3017520" cy="1645920"/>
          </a:xfrm>
          <a:prstGeom prst="rect">
            <a:avLst/>
          </a:prstGeom>
          <a:noFill/>
        </p:spPr>
        <p:txBody>
          <a:bodyPr wrap="square">
            <a:spAutoFit/>
          </a:bodyPr>
          <a:lstStyle/>
          <a:p>
            <a:pPr algn="l">
              <a:defRPr sz="1800" b="1">
                <a:solidFill>
                  <a:srgbClr val="A78BFA"/>
                </a:solidFill>
                <a:latin typeface="Segoe UI"/>
              </a:defRPr>
            </a:pPr>
            <a:r>
              <a:t>Interactive Map</a:t>
            </a:r>
          </a:p>
          <a:p>
            <a:pPr algn="l">
              <a:spcBef>
                <a:spcPts val="1000"/>
              </a:spcBef>
              <a:spcAft>
                <a:spcPts val="400"/>
              </a:spcAft>
              <a:defRPr sz="1400" b="0">
                <a:solidFill>
                  <a:srgbClr val="CBD5E1"/>
                </a:solidFill>
                <a:latin typeface="Segoe UI"/>
              </a:defRPr>
            </a:pPr>
            <a:r>
              <a:t>Mapbox-powered map with moving bus markers and route polylines.</a:t>
            </a:r>
          </a:p>
        </p:txBody>
      </p:sp>
      <p:sp>
        <p:nvSpPr>
          <p:cNvPr id="11" name="Rounded Rectangle 10"/>
          <p:cNvSpPr/>
          <p:nvPr/>
        </p:nvSpPr>
        <p:spPr>
          <a:xfrm>
            <a:off x="8229598" y="1737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598" y="1737360"/>
            <a:ext cx="347472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8" y="1965960"/>
            <a:ext cx="3017520" cy="1645920"/>
          </a:xfrm>
          <a:prstGeom prst="rect">
            <a:avLst/>
          </a:prstGeom>
          <a:noFill/>
        </p:spPr>
        <p:txBody>
          <a:bodyPr wrap="square">
            <a:spAutoFit/>
          </a:bodyPr>
          <a:lstStyle/>
          <a:p>
            <a:pPr algn="l">
              <a:defRPr sz="1800" b="1">
                <a:solidFill>
                  <a:srgbClr val="4ADE80"/>
                </a:solidFill>
                <a:latin typeface="Segoe UI"/>
              </a:defRPr>
            </a:pPr>
            <a:r>
              <a:t>ETA Prediction</a:t>
            </a:r>
          </a:p>
          <a:p>
            <a:pPr algn="l">
              <a:spcBef>
                <a:spcPts val="1000"/>
              </a:spcBef>
              <a:spcAft>
                <a:spcPts val="400"/>
              </a:spcAft>
              <a:defRPr sz="1400" b="0">
                <a:solidFill>
                  <a:srgbClr val="CBD5E1"/>
                </a:solidFill>
                <a:latin typeface="Segoe UI"/>
              </a:defRPr>
            </a:pPr>
            <a:r>
              <a:t>Speed &amp; distance-based arrival time calculation updated in real time.</a:t>
            </a:r>
          </a:p>
        </p:txBody>
      </p:sp>
      <p:sp>
        <p:nvSpPr>
          <p:cNvPr id="14" name="Rounded Rectangle 13"/>
          <p:cNvSpPr/>
          <p:nvPr/>
        </p:nvSpPr>
        <p:spPr>
          <a:xfrm>
            <a:off x="731520" y="4023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023360"/>
            <a:ext cx="347472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251960"/>
            <a:ext cx="3017520" cy="1645920"/>
          </a:xfrm>
          <a:prstGeom prst="rect">
            <a:avLst/>
          </a:prstGeom>
          <a:noFill/>
        </p:spPr>
        <p:txBody>
          <a:bodyPr wrap="square">
            <a:spAutoFit/>
          </a:bodyPr>
          <a:lstStyle/>
          <a:p>
            <a:pPr algn="l">
              <a:defRPr sz="1800" b="1">
                <a:solidFill>
                  <a:srgbClr val="FBBF24"/>
                </a:solidFill>
                <a:latin typeface="Segoe UI"/>
              </a:defRPr>
            </a:pPr>
            <a:r>
              <a:t>Seat Booking</a:t>
            </a:r>
          </a:p>
          <a:p>
            <a:pPr algn="l">
              <a:spcBef>
                <a:spcPts val="1000"/>
              </a:spcBef>
              <a:spcAft>
                <a:spcPts val="400"/>
              </a:spcAft>
              <a:defRPr sz="1400" b="0">
                <a:solidFill>
                  <a:srgbClr val="CBD5E1"/>
                </a:solidFill>
                <a:latin typeface="Segoe UI"/>
              </a:defRPr>
            </a:pPr>
            <a:r>
              <a:t>Full digital booking flow — seat selection, confirmation, e-ticket generation.</a:t>
            </a:r>
          </a:p>
        </p:txBody>
      </p:sp>
      <p:sp>
        <p:nvSpPr>
          <p:cNvPr id="17" name="Rounded Rectangle 16"/>
          <p:cNvSpPr/>
          <p:nvPr/>
        </p:nvSpPr>
        <p:spPr>
          <a:xfrm>
            <a:off x="4480559" y="4023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59" y="4023360"/>
            <a:ext cx="347472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59" y="4251960"/>
            <a:ext cx="3017520" cy="1645920"/>
          </a:xfrm>
          <a:prstGeom prst="rect">
            <a:avLst/>
          </a:prstGeom>
          <a:noFill/>
        </p:spPr>
        <p:txBody>
          <a:bodyPr wrap="square">
            <a:spAutoFit/>
          </a:bodyPr>
          <a:lstStyle/>
          <a:p>
            <a:pPr algn="l">
              <a:defRPr sz="1800" b="1">
                <a:solidFill>
                  <a:srgbClr val="38BDF8"/>
                </a:solidFill>
                <a:latin typeface="Segoe UI"/>
              </a:defRPr>
            </a:pPr>
            <a:r>
              <a:t>Role-Based Dashboards</a:t>
            </a:r>
          </a:p>
          <a:p>
            <a:pPr algn="l">
              <a:spcBef>
                <a:spcPts val="1000"/>
              </a:spcBef>
              <a:spcAft>
                <a:spcPts val="400"/>
              </a:spcAft>
              <a:defRPr sz="1400" b="0">
                <a:solidFill>
                  <a:srgbClr val="CBD5E1"/>
                </a:solidFill>
                <a:latin typeface="Segoe UI"/>
              </a:defRPr>
            </a:pPr>
            <a:r>
              <a:t>Tailored panels for Passengers, Drivers, and Admins.</a:t>
            </a:r>
          </a:p>
        </p:txBody>
      </p:sp>
      <p:sp>
        <p:nvSpPr>
          <p:cNvPr id="20" name="Rounded Rectangle 19"/>
          <p:cNvSpPr/>
          <p:nvPr/>
        </p:nvSpPr>
        <p:spPr>
          <a:xfrm>
            <a:off x="8229598" y="4023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598" y="4023360"/>
            <a:ext cx="347472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198" y="4251960"/>
            <a:ext cx="3017520" cy="1645920"/>
          </a:xfrm>
          <a:prstGeom prst="rect">
            <a:avLst/>
          </a:prstGeom>
          <a:noFill/>
        </p:spPr>
        <p:txBody>
          <a:bodyPr wrap="square">
            <a:spAutoFit/>
          </a:bodyPr>
          <a:lstStyle/>
          <a:p>
            <a:pPr algn="l">
              <a:defRPr sz="1800" b="1">
                <a:solidFill>
                  <a:srgbClr val="A78BFA"/>
                </a:solidFill>
                <a:latin typeface="Segoe UI"/>
              </a:defRPr>
            </a:pPr>
            <a:r>
              <a:t>Secure Authentication</a:t>
            </a:r>
          </a:p>
          <a:p>
            <a:pPr algn="l">
              <a:spcBef>
                <a:spcPts val="1000"/>
              </a:spcBef>
              <a:spcAft>
                <a:spcPts val="400"/>
              </a:spcAft>
              <a:defRPr sz="1400" b="0">
                <a:solidFill>
                  <a:srgbClr val="CBD5E1"/>
                </a:solidFill>
                <a:latin typeface="Segoe UI"/>
              </a:defRPr>
            </a:pPr>
            <a:r>
              <a:t>JWT tokens, bcrypt hashing, CORS protection, and rate limiting.</a:t>
            </a:r>
          </a:p>
        </p:txBody>
      </p:sp>
      <p:sp>
        <p:nvSpPr>
          <p:cNvPr id="23" name="TextBox 22"/>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Advantages of Proposed System</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572000"/>
          </a:xfrm>
          <a:prstGeom prst="rect">
            <a:avLst/>
          </a:prstGeom>
          <a:noFill/>
        </p:spPr>
        <p:txBody>
          <a:bodyPr wrap="square">
            <a:spAutoFit/>
          </a:bodyPr>
          <a:lstStyle/>
          <a:p>
            <a:pPr algn="l">
              <a:defRPr sz="1400" b="0">
                <a:solidFill>
                  <a:srgbClr val="CBD5E1"/>
                </a:solidFill>
                <a:latin typeface="Segoe UI"/>
              </a:defRPr>
            </a:pPr>
          </a:p>
          <a:p>
            <a:pPr>
              <a:spcBef>
                <a:spcPts val="1000"/>
              </a:spcBef>
              <a:spcAft>
                <a:spcPts val="400"/>
              </a:spcAft>
            </a:pPr>
            <a:r>
              <a:rPr sz="1600" b="1">
                <a:solidFill>
                  <a:srgbClr val="4ADE80"/>
                </a:solidFill>
                <a:latin typeface="Segoe UI"/>
              </a:rPr>
              <a:t>  ✓   </a:t>
            </a:r>
            <a:r>
              <a:rPr sz="1500">
                <a:solidFill>
                  <a:srgbClr val="CBD5E1"/>
                </a:solidFill>
                <a:latin typeface="Segoe UI"/>
              </a:rPr>
              <a:t>Real-Time Visibility — Passengers know exactly where their bus is at all times.</a:t>
            </a:r>
          </a:p>
          <a:p>
            <a:pPr>
              <a:spcBef>
                <a:spcPts val="1000"/>
              </a:spcBef>
              <a:spcAft>
                <a:spcPts val="400"/>
              </a:spcAft>
            </a:pPr>
            <a:r>
              <a:rPr sz="1600" b="1">
                <a:solidFill>
                  <a:srgbClr val="4ADE80"/>
                </a:solidFill>
                <a:latin typeface="Segoe UI"/>
              </a:rPr>
              <a:t>  ✓   </a:t>
            </a:r>
            <a:r>
              <a:rPr sz="1500">
                <a:solidFill>
                  <a:srgbClr val="CBD5E1"/>
                </a:solidFill>
                <a:latin typeface="Segoe UI"/>
              </a:rPr>
              <a:t>Accurate ETAs — Dynamic calculation based on live speed and GPS data.</a:t>
            </a:r>
          </a:p>
          <a:p>
            <a:pPr>
              <a:spcBef>
                <a:spcPts val="1000"/>
              </a:spcBef>
              <a:spcAft>
                <a:spcPts val="400"/>
              </a:spcAft>
            </a:pPr>
            <a:r>
              <a:rPr sz="1600" b="1">
                <a:solidFill>
                  <a:srgbClr val="4ADE80"/>
                </a:solidFill>
                <a:latin typeface="Segoe UI"/>
              </a:rPr>
              <a:t>  ✓   </a:t>
            </a:r>
            <a:r>
              <a:rPr sz="1500">
                <a:solidFill>
                  <a:srgbClr val="CBD5E1"/>
                </a:solidFill>
                <a:latin typeface="Segoe UI"/>
              </a:rPr>
              <a:t>Seamless Booking — Digital seat selection and e-tickets reduce queues and overcrowding.</a:t>
            </a:r>
          </a:p>
          <a:p>
            <a:pPr>
              <a:spcBef>
                <a:spcPts val="1000"/>
              </a:spcBef>
              <a:spcAft>
                <a:spcPts val="400"/>
              </a:spcAft>
            </a:pPr>
            <a:r>
              <a:rPr sz="1600" b="1">
                <a:solidFill>
                  <a:srgbClr val="4ADE80"/>
                </a:solidFill>
                <a:latin typeface="Segoe UI"/>
              </a:rPr>
              <a:t>  ✓   </a:t>
            </a:r>
            <a:r>
              <a:rPr sz="1500">
                <a:solidFill>
                  <a:srgbClr val="CBD5E1"/>
                </a:solidFill>
                <a:latin typeface="Segoe UI"/>
              </a:rPr>
              <a:t>Unified Platform — Single app for tracking, booking, and fleet management.</a:t>
            </a:r>
          </a:p>
          <a:p>
            <a:pPr>
              <a:spcBef>
                <a:spcPts val="1000"/>
              </a:spcBef>
              <a:spcAft>
                <a:spcPts val="400"/>
              </a:spcAft>
            </a:pPr>
            <a:r>
              <a:rPr sz="1600" b="1">
                <a:solidFill>
                  <a:srgbClr val="4ADE80"/>
                </a:solidFill>
                <a:latin typeface="Segoe UI"/>
              </a:rPr>
              <a:t>  ✓   </a:t>
            </a:r>
            <a:r>
              <a:rPr sz="1500">
                <a:solidFill>
                  <a:srgbClr val="CBD5E1"/>
                </a:solidFill>
                <a:latin typeface="Segoe UI"/>
              </a:rPr>
              <a:t>Scalable Architecture — Cloud-hosted MERN stack can scale to any city or fleet size.</a:t>
            </a:r>
          </a:p>
          <a:p>
            <a:pPr>
              <a:spcBef>
                <a:spcPts val="1000"/>
              </a:spcBef>
              <a:spcAft>
                <a:spcPts val="400"/>
              </a:spcAft>
            </a:pPr>
            <a:r>
              <a:rPr sz="1600" b="1">
                <a:solidFill>
                  <a:srgbClr val="4ADE80"/>
                </a:solidFill>
                <a:latin typeface="Segoe UI"/>
              </a:rPr>
              <a:t>  ✓   </a:t>
            </a:r>
            <a:r>
              <a:rPr sz="1500">
                <a:solidFill>
                  <a:srgbClr val="CBD5E1"/>
                </a:solidFill>
                <a:latin typeface="Segoe UI"/>
              </a:rPr>
              <a:t>Driver Monitoring — Admins can track all active trips and driver performance in real time.</a:t>
            </a:r>
          </a:p>
          <a:p>
            <a:pPr>
              <a:spcBef>
                <a:spcPts val="1000"/>
              </a:spcBef>
              <a:spcAft>
                <a:spcPts val="400"/>
              </a:spcAft>
            </a:pPr>
            <a:r>
              <a:rPr sz="1600" b="1">
                <a:solidFill>
                  <a:srgbClr val="4ADE80"/>
                </a:solidFill>
                <a:latin typeface="Segoe UI"/>
              </a:rPr>
              <a:t>  ✓   </a:t>
            </a:r>
            <a:r>
              <a:rPr sz="1500">
                <a:solidFill>
                  <a:srgbClr val="CBD5E1"/>
                </a:solidFill>
                <a:latin typeface="Segoe UI"/>
              </a:rPr>
              <a:t>Secure &amp; Reliable — JWT auth, bcrypt encryption, rate limiting, and CORS protection.</a:t>
            </a:r>
          </a:p>
          <a:p>
            <a:pPr>
              <a:spcBef>
                <a:spcPts val="1000"/>
              </a:spcBef>
              <a:spcAft>
                <a:spcPts val="400"/>
              </a:spcAft>
            </a:pPr>
            <a:r>
              <a:rPr sz="1600" b="1">
                <a:solidFill>
                  <a:srgbClr val="4ADE80"/>
                </a:solidFill>
                <a:latin typeface="Segoe UI"/>
              </a:rPr>
              <a:t>  ✓   </a:t>
            </a:r>
            <a:r>
              <a:rPr sz="1500">
                <a:solidFill>
                  <a:srgbClr val="CBD5E1"/>
                </a:solidFill>
                <a:latin typeface="Segoe UI"/>
              </a:rPr>
              <a:t>Mobile-First Design — Fully responsive UI works seamlessly on phones and tablets.</a:t>
            </a:r>
          </a:p>
        </p:txBody>
      </p:sp>
      <p:sp>
        <p:nvSpPr>
          <p:cNvPr id="6" name="TextBox 5"/>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System Model &amp; Methodology</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37360"/>
            <a:ext cx="5029200" cy="457200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029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4572000" cy="4297680"/>
          </a:xfrm>
          <a:prstGeom prst="rect">
            <a:avLst/>
          </a:prstGeom>
          <a:noFill/>
        </p:spPr>
        <p:txBody>
          <a:bodyPr wrap="square">
            <a:spAutoFit/>
          </a:bodyPr>
          <a:lstStyle/>
          <a:p>
            <a:pPr algn="l">
              <a:defRPr sz="1800" b="1">
                <a:solidFill>
                  <a:srgbClr val="38BDF8"/>
                </a:solidFill>
                <a:latin typeface="Segoe UI"/>
              </a:defRPr>
            </a:pPr>
            <a:r>
              <a:t>Agile Development Methodology</a:t>
            </a:r>
          </a:p>
          <a:p>
            <a:pPr algn="l">
              <a:spcBef>
                <a:spcPts val="600"/>
              </a:spcBef>
              <a:spcAft>
                <a:spcPts val="400"/>
              </a:spcAft>
              <a:defRPr sz="1400" b="0">
                <a:solidFill>
                  <a:srgbClr val="CBD5E1"/>
                </a:solidFill>
                <a:latin typeface="Segoe UI"/>
              </a:defRPr>
            </a:pPr>
            <a:r>
              <a:t>•  Iterative development with sprint cycles</a:t>
            </a:r>
          </a:p>
          <a:p>
            <a:pPr algn="l">
              <a:spcBef>
                <a:spcPts val="600"/>
              </a:spcBef>
              <a:spcAft>
                <a:spcPts val="400"/>
              </a:spcAft>
              <a:defRPr sz="1400" b="0">
                <a:solidFill>
                  <a:srgbClr val="CBD5E1"/>
                </a:solidFill>
                <a:latin typeface="Segoe UI"/>
              </a:defRPr>
            </a:pPr>
            <a:r>
              <a:t>•  Continuous integration &amp; testing</a:t>
            </a:r>
          </a:p>
          <a:p>
            <a:pPr algn="l">
              <a:spcBef>
                <a:spcPts val="600"/>
              </a:spcBef>
              <a:spcAft>
                <a:spcPts val="400"/>
              </a:spcAft>
              <a:defRPr sz="1400" b="0">
                <a:solidFill>
                  <a:srgbClr val="CBD5E1"/>
                </a:solidFill>
                <a:latin typeface="Segoe UI"/>
              </a:defRPr>
            </a:pPr>
            <a:r>
              <a:t>•  Modular MVC architecture (Model-View-Controller)</a:t>
            </a:r>
          </a:p>
          <a:p>
            <a:pPr algn="l">
              <a:spcBef>
                <a:spcPts val="600"/>
              </a:spcBef>
              <a:spcAft>
                <a:spcPts val="400"/>
              </a:spcAft>
              <a:defRPr sz="1400" b="0">
                <a:solidFill>
                  <a:srgbClr val="CBD5E1"/>
                </a:solidFill>
                <a:latin typeface="Segoe UI"/>
              </a:defRPr>
            </a:pPr>
            <a:r>
              <a:t>•  RESTful API design principles</a:t>
            </a:r>
          </a:p>
          <a:p>
            <a:pPr algn="l">
              <a:spcBef>
                <a:spcPts val="600"/>
              </a:spcBef>
              <a:spcAft>
                <a:spcPts val="400"/>
              </a:spcAft>
              <a:defRPr sz="1400" b="0">
                <a:solidFill>
                  <a:srgbClr val="CBD5E1"/>
                </a:solidFill>
                <a:latin typeface="Segoe UI"/>
              </a:defRPr>
            </a:pPr>
            <a:r>
              <a:t>•  WebSocket event-driven communication</a:t>
            </a:r>
          </a:p>
          <a:p>
            <a:pPr algn="l">
              <a:spcBef>
                <a:spcPts val="600"/>
              </a:spcBef>
              <a:spcAft>
                <a:spcPts val="400"/>
              </a:spcAft>
              <a:defRPr sz="1400" b="0">
                <a:solidFill>
                  <a:srgbClr val="CBD5E1"/>
                </a:solidFill>
                <a:latin typeface="Segoe UI"/>
              </a:defRPr>
            </a:pPr>
            <a:r>
              <a:t>•  Role-Based Access Control (RBAC)</a:t>
            </a:r>
          </a:p>
        </p:txBody>
      </p:sp>
      <p:sp>
        <p:nvSpPr>
          <p:cNvPr id="8" name="Rounded Rectangle 7"/>
          <p:cNvSpPr/>
          <p:nvPr/>
        </p:nvSpPr>
        <p:spPr>
          <a:xfrm>
            <a:off x="6217920" y="1737360"/>
            <a:ext cx="5029200" cy="457200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737360"/>
            <a:ext cx="50292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65960"/>
            <a:ext cx="4572000" cy="4297680"/>
          </a:xfrm>
          <a:prstGeom prst="rect">
            <a:avLst/>
          </a:prstGeom>
          <a:noFill/>
        </p:spPr>
        <p:txBody>
          <a:bodyPr wrap="square">
            <a:spAutoFit/>
          </a:bodyPr>
          <a:lstStyle/>
          <a:p>
            <a:pPr algn="l">
              <a:defRPr sz="1800" b="1">
                <a:solidFill>
                  <a:srgbClr val="A78BFA"/>
                </a:solidFill>
                <a:latin typeface="Segoe UI"/>
              </a:defRPr>
            </a:pPr>
            <a:r>
              <a:t>3-Tier Architecture</a:t>
            </a:r>
          </a:p>
          <a:p>
            <a:pPr algn="l">
              <a:spcBef>
                <a:spcPts val="600"/>
              </a:spcBef>
              <a:spcAft>
                <a:spcPts val="400"/>
              </a:spcAft>
              <a:defRPr sz="1400" b="0">
                <a:solidFill>
                  <a:srgbClr val="CBD5E1"/>
                </a:solidFill>
                <a:latin typeface="Segoe UI"/>
              </a:defRPr>
            </a:pPr>
            <a:r>
              <a:t>•  Presentation Layer — React.js + Tailwind CSS</a:t>
            </a:r>
          </a:p>
          <a:p>
            <a:pPr algn="l">
              <a:spcBef>
                <a:spcPts val="600"/>
              </a:spcBef>
              <a:spcAft>
                <a:spcPts val="400"/>
              </a:spcAft>
              <a:defRPr sz="1400" b="0">
                <a:solidFill>
                  <a:srgbClr val="CBD5E1"/>
                </a:solidFill>
                <a:latin typeface="Segoe UI"/>
              </a:defRPr>
            </a:pPr>
            <a:r>
              <a:t>•  Business Logic Layer — Node.js + Express.js</a:t>
            </a:r>
          </a:p>
          <a:p>
            <a:pPr algn="l">
              <a:spcBef>
                <a:spcPts val="600"/>
              </a:spcBef>
              <a:spcAft>
                <a:spcPts val="400"/>
              </a:spcAft>
              <a:defRPr sz="1400" b="0">
                <a:solidFill>
                  <a:srgbClr val="CBD5E1"/>
                </a:solidFill>
                <a:latin typeface="Segoe UI"/>
              </a:defRPr>
            </a:pPr>
            <a:r>
              <a:t>•  Data Layer — MongoDB Atlas (NoSQL)</a:t>
            </a:r>
          </a:p>
          <a:p>
            <a:pPr algn="l">
              <a:spcBef>
                <a:spcPts val="600"/>
              </a:spcBef>
              <a:spcAft>
                <a:spcPts val="400"/>
              </a:spcAft>
              <a:defRPr sz="1400" b="0">
                <a:solidFill>
                  <a:srgbClr val="CBD5E1"/>
                </a:solidFill>
                <a:latin typeface="Segoe UI"/>
              </a:defRPr>
            </a:pPr>
            <a:r>
              <a:t>•  Real-Time Layer — Socket.IO (WebSocket)</a:t>
            </a:r>
          </a:p>
          <a:p>
            <a:pPr algn="l">
              <a:spcBef>
                <a:spcPts val="600"/>
              </a:spcBef>
              <a:spcAft>
                <a:spcPts val="400"/>
              </a:spcAft>
              <a:defRPr sz="1400" b="0">
                <a:solidFill>
                  <a:srgbClr val="CBD5E1"/>
                </a:solidFill>
                <a:latin typeface="Segoe UI"/>
              </a:defRPr>
            </a:pPr>
            <a:r>
              <a:t>•  Auth Layer — JWT + bcryptjs</a:t>
            </a:r>
          </a:p>
          <a:p>
            <a:pPr algn="l">
              <a:spcBef>
                <a:spcPts val="600"/>
              </a:spcBef>
              <a:spcAft>
                <a:spcPts val="400"/>
              </a:spcAft>
              <a:defRPr sz="1400" b="0">
                <a:solidFill>
                  <a:srgbClr val="CBD5E1"/>
                </a:solidFill>
                <a:latin typeface="Segoe UI"/>
              </a:defRPr>
            </a:pPr>
            <a:r>
              <a:t>•  Map Layer — Mapbox GL / Leaflet</a:t>
            </a:r>
          </a:p>
        </p:txBody>
      </p:sp>
      <p:sp>
        <p:nvSpPr>
          <p:cNvPr id="11" name="TextBox 10"/>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Model Explanation — Data Flow &amp; Modules</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37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965960"/>
            <a:ext cx="411480" cy="41148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latin typeface="Segoe UI"/>
              </a:defRPr>
            </a:pPr>
            <a:r>
              <a:t>1</a:t>
            </a:r>
          </a:p>
        </p:txBody>
      </p:sp>
      <p:sp>
        <p:nvSpPr>
          <p:cNvPr id="7" name="TextBox 6"/>
          <p:cNvSpPr txBox="1"/>
          <p:nvPr/>
        </p:nvSpPr>
        <p:spPr>
          <a:xfrm>
            <a:off x="1463040" y="1920240"/>
            <a:ext cx="2560320" cy="1737360"/>
          </a:xfrm>
          <a:prstGeom prst="rect">
            <a:avLst/>
          </a:prstGeom>
          <a:noFill/>
        </p:spPr>
        <p:txBody>
          <a:bodyPr wrap="square">
            <a:spAutoFit/>
          </a:bodyPr>
          <a:lstStyle/>
          <a:p>
            <a:pPr algn="l">
              <a:defRPr sz="1700" b="1">
                <a:solidFill>
                  <a:srgbClr val="38BDF8"/>
                </a:solidFill>
                <a:latin typeface="Segoe UI"/>
              </a:defRPr>
            </a:pPr>
            <a:r>
              <a:t>User Module</a:t>
            </a:r>
          </a:p>
          <a:p>
            <a:pPr algn="l">
              <a:spcBef>
                <a:spcPts val="800"/>
              </a:spcBef>
              <a:spcAft>
                <a:spcPts val="400"/>
              </a:spcAft>
              <a:defRPr sz="1300" b="0">
                <a:solidFill>
                  <a:srgbClr val="CBD5E1"/>
                </a:solidFill>
                <a:latin typeface="Segoe UI"/>
              </a:defRPr>
            </a:pPr>
            <a:r>
              <a:t>Registration, login, JWT auth, profile management, role assignment (Passenger / Driver / Admin).</a:t>
            </a:r>
          </a:p>
        </p:txBody>
      </p:sp>
      <p:sp>
        <p:nvSpPr>
          <p:cNvPr id="8" name="Rounded Rectangle 7"/>
          <p:cNvSpPr/>
          <p:nvPr/>
        </p:nvSpPr>
        <p:spPr>
          <a:xfrm>
            <a:off x="4480559" y="1737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63439" y="1965960"/>
            <a:ext cx="411480" cy="41148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latin typeface="Segoe UI"/>
              </a:defRPr>
            </a:pPr>
            <a:r>
              <a:t>2</a:t>
            </a:r>
          </a:p>
        </p:txBody>
      </p:sp>
      <p:sp>
        <p:nvSpPr>
          <p:cNvPr id="10" name="TextBox 9"/>
          <p:cNvSpPr txBox="1"/>
          <p:nvPr/>
        </p:nvSpPr>
        <p:spPr>
          <a:xfrm>
            <a:off x="5212079" y="1920240"/>
            <a:ext cx="2560320" cy="1737360"/>
          </a:xfrm>
          <a:prstGeom prst="rect">
            <a:avLst/>
          </a:prstGeom>
          <a:noFill/>
        </p:spPr>
        <p:txBody>
          <a:bodyPr wrap="square">
            <a:spAutoFit/>
          </a:bodyPr>
          <a:lstStyle/>
          <a:p>
            <a:pPr algn="l">
              <a:defRPr sz="1700" b="1">
                <a:solidFill>
                  <a:srgbClr val="A78BFA"/>
                </a:solidFill>
                <a:latin typeface="Segoe UI"/>
              </a:defRPr>
            </a:pPr>
            <a:r>
              <a:t>Route Module</a:t>
            </a:r>
          </a:p>
          <a:p>
            <a:pPr algn="l">
              <a:spcBef>
                <a:spcPts val="800"/>
              </a:spcBef>
              <a:spcAft>
                <a:spcPts val="400"/>
              </a:spcAft>
              <a:defRPr sz="1300" b="0">
                <a:solidFill>
                  <a:srgbClr val="CBD5E1"/>
                </a:solidFill>
                <a:latin typeface="Segoe UI"/>
              </a:defRPr>
            </a:pPr>
            <a:r>
              <a:t>CRUD for routes with stops, distances, durations. Admin-managed.</a:t>
            </a:r>
          </a:p>
        </p:txBody>
      </p:sp>
      <p:sp>
        <p:nvSpPr>
          <p:cNvPr id="11" name="Rounded Rectangle 10"/>
          <p:cNvSpPr/>
          <p:nvPr/>
        </p:nvSpPr>
        <p:spPr>
          <a:xfrm>
            <a:off x="8229598" y="1737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12478" y="1965960"/>
            <a:ext cx="411480" cy="411480"/>
          </a:xfrm>
          <a:prstGeom prst="ellipse">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latin typeface="Segoe UI"/>
              </a:defRPr>
            </a:pPr>
            <a:r>
              <a:t>3</a:t>
            </a:r>
          </a:p>
        </p:txBody>
      </p:sp>
      <p:sp>
        <p:nvSpPr>
          <p:cNvPr id="13" name="TextBox 12"/>
          <p:cNvSpPr txBox="1"/>
          <p:nvPr/>
        </p:nvSpPr>
        <p:spPr>
          <a:xfrm>
            <a:off x="8961118" y="1920240"/>
            <a:ext cx="2560320" cy="1737360"/>
          </a:xfrm>
          <a:prstGeom prst="rect">
            <a:avLst/>
          </a:prstGeom>
          <a:noFill/>
        </p:spPr>
        <p:txBody>
          <a:bodyPr wrap="square">
            <a:spAutoFit/>
          </a:bodyPr>
          <a:lstStyle/>
          <a:p>
            <a:pPr algn="l">
              <a:defRPr sz="1700" b="1">
                <a:solidFill>
                  <a:srgbClr val="4ADE80"/>
                </a:solidFill>
                <a:latin typeface="Segoe UI"/>
              </a:defRPr>
            </a:pPr>
            <a:r>
              <a:t>Bus Module</a:t>
            </a:r>
          </a:p>
          <a:p>
            <a:pPr algn="l">
              <a:spcBef>
                <a:spcPts val="800"/>
              </a:spcBef>
              <a:spcAft>
                <a:spcPts val="400"/>
              </a:spcAft>
              <a:defRPr sz="1300" b="0">
                <a:solidFill>
                  <a:srgbClr val="CBD5E1"/>
                </a:solidFill>
                <a:latin typeface="Segoe UI"/>
              </a:defRPr>
            </a:pPr>
            <a:r>
              <a:t>Bus registration, capacity management, driver assignment, route linking.</a:t>
            </a:r>
          </a:p>
        </p:txBody>
      </p:sp>
      <p:sp>
        <p:nvSpPr>
          <p:cNvPr id="14" name="Rounded Rectangle 13"/>
          <p:cNvSpPr/>
          <p:nvPr/>
        </p:nvSpPr>
        <p:spPr>
          <a:xfrm>
            <a:off x="731520" y="4023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4251960"/>
            <a:ext cx="411480" cy="411480"/>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latin typeface="Segoe UI"/>
              </a:defRPr>
            </a:pPr>
            <a:r>
              <a:t>4</a:t>
            </a:r>
          </a:p>
        </p:txBody>
      </p:sp>
      <p:sp>
        <p:nvSpPr>
          <p:cNvPr id="16" name="TextBox 15"/>
          <p:cNvSpPr txBox="1"/>
          <p:nvPr/>
        </p:nvSpPr>
        <p:spPr>
          <a:xfrm>
            <a:off x="1463040" y="4206240"/>
            <a:ext cx="2560320" cy="1737360"/>
          </a:xfrm>
          <a:prstGeom prst="rect">
            <a:avLst/>
          </a:prstGeom>
          <a:noFill/>
        </p:spPr>
        <p:txBody>
          <a:bodyPr wrap="square">
            <a:spAutoFit/>
          </a:bodyPr>
          <a:lstStyle/>
          <a:p>
            <a:pPr algn="l">
              <a:defRPr sz="1700" b="1">
                <a:solidFill>
                  <a:srgbClr val="FBBF24"/>
                </a:solidFill>
                <a:latin typeface="Segoe UI"/>
              </a:defRPr>
            </a:pPr>
            <a:r>
              <a:t>Trip Module</a:t>
            </a:r>
          </a:p>
          <a:p>
            <a:pPr algn="l">
              <a:spcBef>
                <a:spcPts val="800"/>
              </a:spcBef>
              <a:spcAft>
                <a:spcPts val="400"/>
              </a:spcAft>
              <a:defRPr sz="1300" b="0">
                <a:solidFill>
                  <a:srgbClr val="CBD5E1"/>
                </a:solidFill>
                <a:latin typeface="Segoe UI"/>
              </a:defRPr>
            </a:pPr>
            <a:r>
              <a:t>Driver starts/ends trips. GPS coordinates broadcast via Socket.IO every 3–5 sec.</a:t>
            </a:r>
          </a:p>
        </p:txBody>
      </p:sp>
      <p:sp>
        <p:nvSpPr>
          <p:cNvPr id="17" name="Rounded Rectangle 16"/>
          <p:cNvSpPr/>
          <p:nvPr/>
        </p:nvSpPr>
        <p:spPr>
          <a:xfrm>
            <a:off x="4480559" y="4023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63439" y="4251960"/>
            <a:ext cx="411480" cy="41148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latin typeface="Segoe UI"/>
              </a:defRPr>
            </a:pPr>
            <a:r>
              <a:t>5</a:t>
            </a:r>
          </a:p>
        </p:txBody>
      </p:sp>
      <p:sp>
        <p:nvSpPr>
          <p:cNvPr id="19" name="TextBox 18"/>
          <p:cNvSpPr txBox="1"/>
          <p:nvPr/>
        </p:nvSpPr>
        <p:spPr>
          <a:xfrm>
            <a:off x="5212079" y="4206240"/>
            <a:ext cx="2560320" cy="1737360"/>
          </a:xfrm>
          <a:prstGeom prst="rect">
            <a:avLst/>
          </a:prstGeom>
          <a:noFill/>
        </p:spPr>
        <p:txBody>
          <a:bodyPr wrap="square">
            <a:spAutoFit/>
          </a:bodyPr>
          <a:lstStyle/>
          <a:p>
            <a:pPr algn="l">
              <a:defRPr sz="1700" b="1">
                <a:solidFill>
                  <a:srgbClr val="38BDF8"/>
                </a:solidFill>
                <a:latin typeface="Segoe UI"/>
              </a:defRPr>
            </a:pPr>
            <a:r>
              <a:t>Booking Module</a:t>
            </a:r>
          </a:p>
          <a:p>
            <a:pPr algn="l">
              <a:spcBef>
                <a:spcPts val="800"/>
              </a:spcBef>
              <a:spcAft>
                <a:spcPts val="400"/>
              </a:spcAft>
              <a:defRPr sz="1300" b="0">
                <a:solidFill>
                  <a:srgbClr val="CBD5E1"/>
                </a:solidFill>
                <a:latin typeface="Segoe UI"/>
              </a:defRPr>
            </a:pPr>
            <a:r>
              <a:t>Passengers select seats, confirm bookings, generate digital e-tickets.</a:t>
            </a:r>
          </a:p>
        </p:txBody>
      </p:sp>
      <p:sp>
        <p:nvSpPr>
          <p:cNvPr id="20" name="Rounded Rectangle 19"/>
          <p:cNvSpPr/>
          <p:nvPr/>
        </p:nvSpPr>
        <p:spPr>
          <a:xfrm>
            <a:off x="8229598" y="4023360"/>
            <a:ext cx="3474720" cy="201168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12478" y="4251960"/>
            <a:ext cx="411480" cy="41148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F172A"/>
                </a:solidFill>
                <a:latin typeface="Segoe UI"/>
              </a:defRPr>
            </a:pPr>
            <a:r>
              <a:t>6</a:t>
            </a:r>
          </a:p>
        </p:txBody>
      </p:sp>
      <p:sp>
        <p:nvSpPr>
          <p:cNvPr id="22" name="TextBox 21"/>
          <p:cNvSpPr txBox="1"/>
          <p:nvPr/>
        </p:nvSpPr>
        <p:spPr>
          <a:xfrm>
            <a:off x="8961118" y="4206240"/>
            <a:ext cx="2560320" cy="1737360"/>
          </a:xfrm>
          <a:prstGeom prst="rect">
            <a:avLst/>
          </a:prstGeom>
          <a:noFill/>
        </p:spPr>
        <p:txBody>
          <a:bodyPr wrap="square">
            <a:spAutoFit/>
          </a:bodyPr>
          <a:lstStyle/>
          <a:p>
            <a:pPr algn="l">
              <a:defRPr sz="1700" b="1">
                <a:solidFill>
                  <a:srgbClr val="A78BFA"/>
                </a:solidFill>
                <a:latin typeface="Segoe UI"/>
              </a:defRPr>
            </a:pPr>
            <a:r>
              <a:t>Real-Time Module</a:t>
            </a:r>
          </a:p>
          <a:p>
            <a:pPr algn="l">
              <a:spcBef>
                <a:spcPts val="800"/>
              </a:spcBef>
              <a:spcAft>
                <a:spcPts val="400"/>
              </a:spcAft>
              <a:defRPr sz="1300" b="0">
                <a:solidFill>
                  <a:srgbClr val="CBD5E1"/>
                </a:solidFill>
                <a:latin typeface="Segoe UI"/>
              </a:defRPr>
            </a:pPr>
            <a:r>
              <a:t>Socket.IO handles location broadcast, ETA updates, trip status events.</a:t>
            </a:r>
          </a:p>
        </p:txBody>
      </p:sp>
      <p:sp>
        <p:nvSpPr>
          <p:cNvPr id="23" name="TextBox 22"/>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Hardware &amp; Software Requirements</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37360"/>
            <a:ext cx="5029200" cy="457200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029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4572000" cy="4297680"/>
          </a:xfrm>
          <a:prstGeom prst="rect">
            <a:avLst/>
          </a:prstGeom>
          <a:noFill/>
        </p:spPr>
        <p:txBody>
          <a:bodyPr wrap="square">
            <a:spAutoFit/>
          </a:bodyPr>
          <a:lstStyle/>
          <a:p>
            <a:pPr algn="l">
              <a:defRPr sz="1800" b="1">
                <a:solidFill>
                  <a:srgbClr val="38BDF8"/>
                </a:solidFill>
                <a:latin typeface="Segoe UI"/>
              </a:defRPr>
            </a:pPr>
            <a:r>
              <a:t>Hardware Requirements</a:t>
            </a:r>
          </a:p>
          <a:p>
            <a:pPr algn="l">
              <a:spcBef>
                <a:spcPts val="600"/>
              </a:spcBef>
              <a:spcAft>
                <a:spcPts val="400"/>
              </a:spcAft>
              <a:defRPr sz="1400" b="0">
                <a:solidFill>
                  <a:srgbClr val="CBD5E1"/>
                </a:solidFill>
                <a:latin typeface="Segoe UI"/>
              </a:defRPr>
            </a:pPr>
            <a:r>
              <a:t>•  Processor: Intel Core i3 or higher</a:t>
            </a:r>
          </a:p>
          <a:p>
            <a:pPr algn="l">
              <a:spcBef>
                <a:spcPts val="600"/>
              </a:spcBef>
              <a:spcAft>
                <a:spcPts val="400"/>
              </a:spcAft>
              <a:defRPr sz="1400" b="0">
                <a:solidFill>
                  <a:srgbClr val="CBD5E1"/>
                </a:solidFill>
                <a:latin typeface="Segoe UI"/>
              </a:defRPr>
            </a:pPr>
            <a:r>
              <a:t>•  RAM: 4 GB minimum (8 GB recommended)</a:t>
            </a:r>
          </a:p>
          <a:p>
            <a:pPr algn="l">
              <a:spcBef>
                <a:spcPts val="600"/>
              </a:spcBef>
              <a:spcAft>
                <a:spcPts val="400"/>
              </a:spcAft>
              <a:defRPr sz="1400" b="0">
                <a:solidFill>
                  <a:srgbClr val="CBD5E1"/>
                </a:solidFill>
                <a:latin typeface="Segoe UI"/>
              </a:defRPr>
            </a:pPr>
            <a:r>
              <a:t>•  Storage: 500 MB free disk space</a:t>
            </a:r>
          </a:p>
          <a:p>
            <a:pPr algn="l">
              <a:spcBef>
                <a:spcPts val="600"/>
              </a:spcBef>
              <a:spcAft>
                <a:spcPts val="400"/>
              </a:spcAft>
              <a:defRPr sz="1400" b="0">
                <a:solidFill>
                  <a:srgbClr val="CBD5E1"/>
                </a:solidFill>
                <a:latin typeface="Segoe UI"/>
              </a:defRPr>
            </a:pPr>
            <a:r>
              <a:t>•  Network: Stable internet connection</a:t>
            </a:r>
          </a:p>
          <a:p>
            <a:pPr algn="l">
              <a:spcBef>
                <a:spcPts val="600"/>
              </a:spcBef>
              <a:spcAft>
                <a:spcPts val="400"/>
              </a:spcAft>
              <a:defRPr sz="1400" b="0">
                <a:solidFill>
                  <a:srgbClr val="CBD5E1"/>
                </a:solidFill>
                <a:latin typeface="Segoe UI"/>
              </a:defRPr>
            </a:pPr>
            <a:r>
              <a:t>•  GPS: Device with GPS capability (for drivers)</a:t>
            </a:r>
          </a:p>
          <a:p>
            <a:pPr algn="l">
              <a:spcBef>
                <a:spcPts val="600"/>
              </a:spcBef>
              <a:spcAft>
                <a:spcPts val="400"/>
              </a:spcAft>
              <a:defRPr sz="1400" b="0">
                <a:solidFill>
                  <a:srgbClr val="CBD5E1"/>
                </a:solidFill>
                <a:latin typeface="Segoe UI"/>
              </a:defRPr>
            </a:pPr>
            <a:r>
              <a:t>•  Display: 1366×768 resolution or higher</a:t>
            </a:r>
          </a:p>
        </p:txBody>
      </p:sp>
      <p:sp>
        <p:nvSpPr>
          <p:cNvPr id="8" name="Rounded Rectangle 7"/>
          <p:cNvSpPr/>
          <p:nvPr/>
        </p:nvSpPr>
        <p:spPr>
          <a:xfrm>
            <a:off x="6217920" y="1737360"/>
            <a:ext cx="5029200" cy="457200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737360"/>
            <a:ext cx="50292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65960"/>
            <a:ext cx="4572000" cy="4297680"/>
          </a:xfrm>
          <a:prstGeom prst="rect">
            <a:avLst/>
          </a:prstGeom>
          <a:noFill/>
        </p:spPr>
        <p:txBody>
          <a:bodyPr wrap="square">
            <a:spAutoFit/>
          </a:bodyPr>
          <a:lstStyle/>
          <a:p>
            <a:pPr algn="l">
              <a:defRPr sz="1800" b="1">
                <a:solidFill>
                  <a:srgbClr val="A78BFA"/>
                </a:solidFill>
                <a:latin typeface="Segoe UI"/>
              </a:defRPr>
            </a:pPr>
            <a:r>
              <a:t>Software Requirements</a:t>
            </a:r>
          </a:p>
          <a:p>
            <a:pPr algn="l">
              <a:spcBef>
                <a:spcPts val="600"/>
              </a:spcBef>
              <a:spcAft>
                <a:spcPts val="400"/>
              </a:spcAft>
              <a:defRPr sz="1400" b="0">
                <a:solidFill>
                  <a:srgbClr val="CBD5E1"/>
                </a:solidFill>
                <a:latin typeface="Segoe UI"/>
              </a:defRPr>
            </a:pPr>
            <a:r>
              <a:t>•  OS: Windows 10+ / macOS / Linux</a:t>
            </a:r>
          </a:p>
          <a:p>
            <a:pPr algn="l">
              <a:spcBef>
                <a:spcPts val="600"/>
              </a:spcBef>
              <a:spcAft>
                <a:spcPts val="400"/>
              </a:spcAft>
              <a:defRPr sz="1400" b="0">
                <a:solidFill>
                  <a:srgbClr val="CBD5E1"/>
                </a:solidFill>
                <a:latin typeface="Segoe UI"/>
              </a:defRPr>
            </a:pPr>
            <a:r>
              <a:t>•  Runtime: Node.js v16 or higher</a:t>
            </a:r>
          </a:p>
          <a:p>
            <a:pPr algn="l">
              <a:spcBef>
                <a:spcPts val="600"/>
              </a:spcBef>
              <a:spcAft>
                <a:spcPts val="400"/>
              </a:spcAft>
              <a:defRPr sz="1400" b="0">
                <a:solidFill>
                  <a:srgbClr val="CBD5E1"/>
                </a:solidFill>
                <a:latin typeface="Segoe UI"/>
              </a:defRPr>
            </a:pPr>
            <a:r>
              <a:t>•  Database: MongoDB Atlas (Cloud)</a:t>
            </a:r>
          </a:p>
          <a:p>
            <a:pPr algn="l">
              <a:spcBef>
                <a:spcPts val="600"/>
              </a:spcBef>
              <a:spcAft>
                <a:spcPts val="400"/>
              </a:spcAft>
              <a:defRPr sz="1400" b="0">
                <a:solidFill>
                  <a:srgbClr val="CBD5E1"/>
                </a:solidFill>
                <a:latin typeface="Segoe UI"/>
              </a:defRPr>
            </a:pPr>
            <a:r>
              <a:t>•  Browser: Chrome / Firefox / Edge (latest)</a:t>
            </a:r>
          </a:p>
          <a:p>
            <a:pPr algn="l">
              <a:spcBef>
                <a:spcPts val="600"/>
              </a:spcBef>
              <a:spcAft>
                <a:spcPts val="400"/>
              </a:spcAft>
              <a:defRPr sz="1400" b="0">
                <a:solidFill>
                  <a:srgbClr val="CBD5E1"/>
                </a:solidFill>
                <a:latin typeface="Segoe UI"/>
              </a:defRPr>
            </a:pPr>
            <a:r>
              <a:t>•  IDE: VS Code (recommended)</a:t>
            </a:r>
          </a:p>
          <a:p>
            <a:pPr algn="l">
              <a:spcBef>
                <a:spcPts val="600"/>
              </a:spcBef>
              <a:spcAft>
                <a:spcPts val="400"/>
              </a:spcAft>
              <a:defRPr sz="1400" b="0">
                <a:solidFill>
                  <a:srgbClr val="CBD5E1"/>
                </a:solidFill>
                <a:latin typeface="Segoe UI"/>
              </a:defRPr>
            </a:pPr>
            <a:r>
              <a:t>•  Tools: Git, npm, Postman (testing)</a:t>
            </a:r>
          </a:p>
          <a:p>
            <a:pPr algn="l">
              <a:spcBef>
                <a:spcPts val="600"/>
              </a:spcBef>
              <a:spcAft>
                <a:spcPts val="400"/>
              </a:spcAft>
              <a:defRPr sz="1400" b="0">
                <a:solidFill>
                  <a:srgbClr val="CBD5E1"/>
                </a:solidFill>
                <a:latin typeface="Segoe UI"/>
              </a:defRPr>
            </a:pPr>
            <a:r>
              <a:t>•  Maps API: Mapbox / Leaflet</a:t>
            </a:r>
          </a:p>
          <a:p>
            <a:pPr algn="l">
              <a:spcBef>
                <a:spcPts val="600"/>
              </a:spcBef>
              <a:spcAft>
                <a:spcPts val="400"/>
              </a:spcAft>
              <a:defRPr sz="1400" b="0">
                <a:solidFill>
                  <a:srgbClr val="CBD5E1"/>
                </a:solidFill>
                <a:latin typeface="Segoe UI"/>
              </a:defRPr>
            </a:pPr>
            <a:r>
              <a:t>•  Deployment: Vercel (frontend), Railway (backend)</a:t>
            </a:r>
          </a:p>
        </p:txBody>
      </p:sp>
      <p:sp>
        <p:nvSpPr>
          <p:cNvPr id="11" name="TextBox 10"/>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457200"/>
            <a:ext cx="137160" cy="640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365760"/>
            <a:ext cx="9144000" cy="731520"/>
          </a:xfrm>
          <a:prstGeom prst="rect">
            <a:avLst/>
          </a:prstGeom>
          <a:noFill/>
        </p:spPr>
        <p:txBody>
          <a:bodyPr wrap="none">
            <a:spAutoFit/>
          </a:bodyPr>
          <a:lstStyle/>
          <a:p>
            <a:pPr algn="l">
              <a:defRPr sz="3200" b="1">
                <a:solidFill>
                  <a:srgbClr val="FFFFFF"/>
                </a:solidFill>
                <a:latin typeface="Segoe UI"/>
              </a:defRPr>
            </a:pPr>
            <a:r>
              <a:t>Conclusion</a:t>
            </a:r>
          </a:p>
        </p:txBody>
      </p:sp>
      <p:sp>
        <p:nvSpPr>
          <p:cNvPr id="4" name="Rectangle 3"/>
          <p:cNvSpPr/>
          <p:nvPr/>
        </p:nvSpPr>
        <p:spPr>
          <a:xfrm>
            <a:off x="731520" y="1463040"/>
            <a:ext cx="10698480" cy="2540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3200400"/>
          </a:xfrm>
          <a:prstGeom prst="rect">
            <a:avLst/>
          </a:prstGeom>
          <a:noFill/>
        </p:spPr>
        <p:txBody>
          <a:bodyPr wrap="square">
            <a:spAutoFit/>
          </a:bodyPr>
          <a:lstStyle/>
          <a:p>
            <a:pPr algn="l">
              <a:defRPr sz="1600" b="0">
                <a:solidFill>
                  <a:srgbClr val="CBD5E1"/>
                </a:solidFill>
                <a:latin typeface="Segoe UI"/>
              </a:defRPr>
            </a:pPr>
            <a:r>
              <a:t>OnTime is a modern, full-stack web application that addresses the critical challenges of urban public transportation by providing real-time bus tracking, intelligent ETA predictions, and a complete digital booking system.</a:t>
            </a:r>
            <a:br/>
            <a:br/>
            <a:r>
              <a:t>The application demonstrates the effective use of the MERN stack combined with WebSocket technology to deliver a seamless, real-time user experience. The role-based architecture ensures that passengers, drivers, and administrators each have a purpose-built interface tailored to their needs.</a:t>
            </a:r>
            <a:br/>
            <a:br/>
            <a:r>
              <a:t>With its scalable cloud-hosted architecture, robust security measures, and mobile-responsive design, OnTime can be deployed in any city to improve public transit efficiency, reduce passenger wait times, and provide transit authorities with powerful fleet management tools.</a:t>
            </a:r>
          </a:p>
        </p:txBody>
      </p:sp>
      <p:sp>
        <p:nvSpPr>
          <p:cNvPr id="6" name="Rounded Rectangle 5"/>
          <p:cNvSpPr/>
          <p:nvPr/>
        </p:nvSpPr>
        <p:spPr>
          <a:xfrm>
            <a:off x="914400" y="4754880"/>
            <a:ext cx="10332720" cy="1645920"/>
          </a:xfrm>
          <a:prstGeom prst="roundRect">
            <a:avLst/>
          </a:prstGeom>
          <a:solidFill>
            <a:srgbClr val="1E293B"/>
          </a:solidFill>
          <a:ln w="1270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1033272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983480"/>
            <a:ext cx="9875520" cy="1371600"/>
          </a:xfrm>
          <a:prstGeom prst="rect">
            <a:avLst/>
          </a:prstGeom>
          <a:noFill/>
        </p:spPr>
        <p:txBody>
          <a:bodyPr wrap="square">
            <a:spAutoFit/>
          </a:bodyPr>
          <a:lstStyle/>
          <a:p>
            <a:pPr algn="l">
              <a:defRPr sz="1800" b="1">
                <a:solidFill>
                  <a:srgbClr val="4ADE80"/>
                </a:solidFill>
                <a:latin typeface="Segoe UI"/>
              </a:defRPr>
            </a:pPr>
            <a:r>
              <a:t>Future Scope</a:t>
            </a:r>
          </a:p>
          <a:p>
            <a:pPr algn="l">
              <a:spcBef>
                <a:spcPts val="600"/>
              </a:spcBef>
              <a:spcAft>
                <a:spcPts val="400"/>
              </a:spcAft>
              <a:defRPr sz="1400" b="0">
                <a:solidFill>
                  <a:srgbClr val="CBD5E1"/>
                </a:solidFill>
                <a:latin typeface="Segoe UI"/>
              </a:defRPr>
            </a:pPr>
            <a:r>
              <a:t>•  Push notifications for delays  •  Payment gateway integration  •  QR code ticket scanning  •  Route optimization algorithms  •  Mobile app (React Native)  •  Multi-language support</a:t>
            </a:r>
          </a:p>
        </p:txBody>
      </p:sp>
      <p:sp>
        <p:nvSpPr>
          <p:cNvPr id="9" name="TextBox 8"/>
          <p:cNvSpPr txBox="1"/>
          <p:nvPr/>
        </p:nvSpPr>
        <p:spPr>
          <a:xfrm>
            <a:off x="10972800" y="6400800"/>
            <a:ext cx="1097280" cy="365760"/>
          </a:xfrm>
          <a:prstGeom prst="rect">
            <a:avLst/>
          </a:prstGeom>
          <a:noFill/>
        </p:spPr>
        <p:txBody>
          <a:bodyPr wrap="none">
            <a:spAutoFit/>
          </a:bodyPr>
          <a:lstStyle/>
          <a:p>
            <a:pPr algn="r">
              <a:defRPr sz="1100" b="0">
                <a:solidFill>
                  <a:srgbClr val="94A3B8"/>
                </a:solidFill>
                <a:latin typeface="Segoe UI"/>
              </a:defRPr>
            </a:pPr>
            <a:r>
              <a:t>10 / 10</a:t>
            </a:r>
          </a:p>
        </p:txBody>
      </p:sp>
      <p:sp>
        <p:nvSpPr>
          <p:cNvPr id="10" name="TextBox 9"/>
          <p:cNvSpPr txBox="1"/>
          <p:nvPr/>
        </p:nvSpPr>
        <p:spPr>
          <a:xfrm>
            <a:off x="4114800" y="6400800"/>
            <a:ext cx="4572000" cy="365760"/>
          </a:xfrm>
          <a:prstGeom prst="rect">
            <a:avLst/>
          </a:prstGeom>
          <a:noFill/>
        </p:spPr>
        <p:txBody>
          <a:bodyPr wrap="none">
            <a:spAutoFit/>
          </a:bodyPr>
          <a:lstStyle/>
          <a:p>
            <a:pPr algn="ctr">
              <a:defRPr sz="1800" b="1">
                <a:solidFill>
                  <a:srgbClr val="38BDF8"/>
                </a:solidFill>
                <a:latin typeface="Segoe UI"/>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