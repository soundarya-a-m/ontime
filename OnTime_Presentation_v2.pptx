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5E1"/>
    <a:srgbClr val="485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1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85350A2-C388-7094-BED6-D8AB243A8912}"/>
              </a:ext>
            </a:extLst>
          </p:cNvPr>
          <p:cNvGrpSpPr/>
          <p:nvPr/>
        </p:nvGrpSpPr>
        <p:grpSpPr>
          <a:xfrm>
            <a:off x="838200" y="1988046"/>
            <a:ext cx="10515600" cy="4462272"/>
            <a:chOff x="838200" y="1527048"/>
            <a:chExt cx="10515600" cy="4462272"/>
          </a:xfrm>
        </p:grpSpPr>
        <p:sp>
          <p:nvSpPr>
            <p:cNvPr id="2" name="TextBox 1"/>
            <p:cNvSpPr txBox="1"/>
            <p:nvPr/>
          </p:nvSpPr>
          <p:spPr>
            <a:xfrm>
              <a:off x="838200" y="1527048"/>
              <a:ext cx="6556795" cy="154914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>
                <a:defRPr sz="6000" b="1">
                  <a:solidFill>
                    <a:srgbClr val="38BDF8"/>
                  </a:solidFill>
                  <a:latin typeface="Segoe UI"/>
                </a:defRPr>
              </a:pPr>
              <a:r>
                <a:rPr lang="en-US" dirty="0"/>
                <a:t>Where Is My Bus?</a:t>
              </a:r>
              <a:endParaRPr dirty="0"/>
            </a:p>
            <a:p>
              <a:pPr algn="l">
                <a:spcBef>
                  <a:spcPts val="800"/>
                </a:spcBef>
                <a:spcAft>
                  <a:spcPts val="400"/>
                </a:spcAft>
                <a:defRPr sz="2800" b="0">
                  <a:solidFill>
                    <a:srgbClr val="FFFFFF"/>
                  </a:solidFill>
                  <a:latin typeface="Segoe UI"/>
                </a:defRPr>
              </a:pPr>
              <a:r>
                <a:rPr dirty="0"/>
                <a:t>Real-Time Bus Tracking System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7EF23B-42D3-4252-0B66-CE905876EE60}"/>
                </a:ext>
              </a:extLst>
            </p:cNvPr>
            <p:cNvGrpSpPr/>
            <p:nvPr/>
          </p:nvGrpSpPr>
          <p:grpSpPr>
            <a:xfrm>
              <a:off x="838200" y="3429000"/>
              <a:ext cx="10515600" cy="2560320"/>
              <a:chOff x="838200" y="4023360"/>
              <a:chExt cx="10515600" cy="256032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838200" y="4023360"/>
                <a:ext cx="5029200" cy="2560320"/>
              </a:xfrm>
              <a:prstGeom prst="roundRect">
                <a:avLst/>
              </a:prstGeom>
              <a:solidFill>
                <a:srgbClr val="1E293B"/>
              </a:solidFill>
              <a:ln w="12700">
                <a:solidFill>
                  <a:srgbClr val="3344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1112520" y="4160520"/>
                <a:ext cx="4572000" cy="1379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400" b="1">
                    <a:solidFill>
                      <a:srgbClr val="38BDF8"/>
                    </a:solidFill>
                    <a:latin typeface="Segoe UI"/>
                  </a:defRPr>
                </a:pPr>
                <a:r>
                  <a:rPr dirty="0"/>
                  <a:t>Submitted By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6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lang="pl-PL" dirty="0"/>
                  <a:t>1.  Rakshitha</a:t>
                </a:r>
                <a:r>
                  <a:rPr lang="en-US" dirty="0"/>
                  <a:t> A</a:t>
                </a:r>
                <a:r>
                  <a:rPr lang="pl-PL" dirty="0"/>
                  <a:t> (U01AG23S0085)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6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lang="pl-PL" dirty="0"/>
                  <a:t>2.  Soundarya A M (U01AG23S0126)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600" b="0">
                    <a:solidFill>
                      <a:srgbClr val="FFFFFF"/>
                    </a:solidFill>
                    <a:latin typeface="Segoe UI"/>
                  </a:defRPr>
                </a:pPr>
                <a:r>
                  <a:rPr lang="pl-PL" dirty="0"/>
                  <a:t>3.  Ashwini C (U01AG23S0208)</a:t>
                </a: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6324600" y="4023360"/>
                <a:ext cx="5029200" cy="2560320"/>
              </a:xfrm>
              <a:prstGeom prst="roundRect">
                <a:avLst/>
              </a:prstGeom>
              <a:solidFill>
                <a:srgbClr val="1E293B"/>
              </a:solidFill>
              <a:ln w="12700">
                <a:solidFill>
                  <a:srgbClr val="33445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598920" y="4160520"/>
                <a:ext cx="4572000" cy="1318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400" b="1">
                    <a:solidFill>
                      <a:srgbClr val="A78BFA"/>
                    </a:solidFill>
                    <a:latin typeface="Segoe UI"/>
                  </a:defRPr>
                </a:pPr>
                <a:r>
                  <a:rPr dirty="0"/>
                  <a:t>Submitted To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600" b="1">
                    <a:solidFill>
                      <a:srgbClr val="FFFFFF"/>
                    </a:solidFill>
                    <a:latin typeface="Segoe UI"/>
                  </a:defRPr>
                </a:pPr>
                <a:r>
                  <a:rPr lang="en-US" dirty="0"/>
                  <a:t>Dr. Sheela T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4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lang="en-US" dirty="0"/>
                  <a:t>Associate Professor, </a:t>
                </a:r>
              </a:p>
              <a:p>
                <a:pPr>
                  <a:spcBef>
                    <a:spcPts val="600"/>
                  </a:spcBef>
                  <a:spcAft>
                    <a:spcPts val="400"/>
                  </a:spcAft>
                  <a:defRPr sz="1400" b="0">
                    <a:solidFill>
                      <a:srgbClr val="94A3B8"/>
                    </a:solidFill>
                    <a:latin typeface="Segoe UI"/>
                  </a:defRPr>
                </a:pPr>
                <a:r>
                  <a:rPr lang="en-US" dirty="0"/>
                  <a:t>Department of Computer Science </a:t>
                </a:r>
                <a:endParaRPr dirty="0"/>
              </a:p>
            </p:txBody>
          </p:sp>
        </p:grpSp>
      </p:grp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 / 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41D5D-1913-C009-9D41-C52057B61931}"/>
              </a:ext>
            </a:extLst>
          </p:cNvPr>
          <p:cNvSpPr txBox="1"/>
          <p:nvPr/>
        </p:nvSpPr>
        <p:spPr>
          <a:xfrm>
            <a:off x="0" y="343674"/>
            <a:ext cx="121920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en-US" sz="3600" b="1" dirty="0"/>
              <a:t>Maharani’s Science College for Women(Autonomous),</a:t>
            </a:r>
          </a:p>
          <a:p>
            <a:pPr algn="ctr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94A3B8"/>
                </a:solidFill>
                <a:latin typeface="Segoe UI"/>
              </a:defRPr>
            </a:pPr>
            <a:r>
              <a:rPr lang="en-US" sz="3600" b="1" dirty="0"/>
              <a:t> Mysuru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370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Web-based Real-Time Bus Tracking System for intelligent transportation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Live GPS-based bus tracking with route visualization and ETA prediction.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Interactive interface for viewing routes, schedules, and bus details.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Secure seat booking system with digital ticket generation.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User authentication with booking history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Admin dashboard for managing buses, routes, crew members, and real-time operations.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Scalable and modern architecture suitable for smart city transportation.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sz="1600" dirty="0"/>
              <a:t>Reduces passenger waiting time and improves transit efficiency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A6879D-4638-DB77-3C9A-B154876EF112}"/>
              </a:ext>
            </a:extLst>
          </p:cNvPr>
          <p:cNvGrpSpPr/>
          <p:nvPr/>
        </p:nvGrpSpPr>
        <p:grpSpPr>
          <a:xfrm>
            <a:off x="612648" y="1737360"/>
            <a:ext cx="10360152" cy="4572000"/>
            <a:chOff x="6217920" y="1737360"/>
            <a:chExt cx="5029200" cy="4572000"/>
          </a:xfrm>
        </p:grpSpPr>
        <p:sp>
          <p:nvSpPr>
            <p:cNvPr id="8" name="Rounded Rectangle 7"/>
            <p:cNvSpPr/>
            <p:nvPr/>
          </p:nvSpPr>
          <p:spPr>
            <a:xfrm>
              <a:off x="6217920" y="1737360"/>
              <a:ext cx="5029200" cy="457200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4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6217920" y="1737360"/>
              <a:ext cx="5029200" cy="50800"/>
            </a:xfrm>
            <a:prstGeom prst="rect">
              <a:avLst/>
            </a:prstGeom>
            <a:solidFill>
              <a:srgbClr val="F8717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46520" y="1920240"/>
              <a:ext cx="4572000" cy="39058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400"/>
                </a:spcBef>
                <a:spcAft>
                  <a:spcPts val="200"/>
                </a:spcAft>
                <a:defRPr sz="600" b="0">
                  <a:solidFill>
                    <a:srgbClr val="1E293B"/>
                  </a:solidFill>
                  <a:latin typeface="Segoe UI"/>
                </a:defRPr>
              </a:pPr>
              <a:endParaRPr dirty="0"/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b="1" dirty="0">
                  <a:solidFill>
                    <a:srgbClr val="F87171"/>
                  </a:solidFill>
                  <a:latin typeface="Segoe UI"/>
                </a:rPr>
                <a:t>▸  </a:t>
              </a:r>
              <a:r>
                <a:rPr dirty="0">
                  <a:solidFill>
                    <a:srgbClr val="CBD5E1"/>
                  </a:solidFill>
                  <a:latin typeface="Segoe UI"/>
                </a:rPr>
                <a:t>Urban public bus transit systems in India lack real-time tracking infrastructure, forcing millions of commuters to depend on static, unreliable timetables.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b="1" dirty="0">
                  <a:solidFill>
                    <a:srgbClr val="F87171"/>
                  </a:solidFill>
                  <a:latin typeface="Segoe UI"/>
                </a:rPr>
                <a:t>▸  </a:t>
              </a:r>
              <a:r>
                <a:rPr dirty="0">
                  <a:solidFill>
                    <a:srgbClr val="CBD5E1"/>
                  </a:solidFill>
                  <a:latin typeface="Segoe UI"/>
                </a:rPr>
                <a:t>Passengers have no visibility into live bus locations, leading to prolonged and unpredictable waiting times at bus stops.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b="1" dirty="0">
                  <a:solidFill>
                    <a:srgbClr val="F87171"/>
                  </a:solidFill>
                  <a:latin typeface="Segoe UI"/>
                </a:rPr>
                <a:t>▸  </a:t>
              </a:r>
              <a:r>
                <a:rPr dirty="0">
                  <a:solidFill>
                    <a:srgbClr val="CBD5E1"/>
                  </a:solidFill>
                  <a:latin typeface="Segoe UI"/>
                </a:rPr>
                <a:t>There is no mechanism for </a:t>
              </a:r>
              <a:r>
                <a:rPr>
                  <a:solidFill>
                    <a:srgbClr val="CBD5E1"/>
                  </a:solidFill>
                  <a:latin typeface="Segoe UI"/>
                </a:rPr>
                <a:t>seat </a:t>
              </a:r>
              <a:r>
                <a:rPr lang="en-US">
                  <a:solidFill>
                    <a:srgbClr val="CBD5E1"/>
                  </a:solidFill>
                  <a:latin typeface="Segoe UI"/>
                </a:rPr>
                <a:t>reservation</a:t>
              </a:r>
              <a:r>
                <a:rPr>
                  <a:solidFill>
                    <a:srgbClr val="CBD5E1"/>
                  </a:solidFill>
                  <a:latin typeface="Segoe UI"/>
                </a:rPr>
                <a:t>, </a:t>
              </a:r>
              <a:r>
                <a:rPr dirty="0">
                  <a:solidFill>
                    <a:srgbClr val="CBD5E1"/>
                  </a:solidFill>
                  <a:latin typeface="Segoe UI"/>
                </a:rPr>
                <a:t>resulting in overcrowded buses and poor commuter experience.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  <a:spcAft>
                  <a:spcPts val="300"/>
                </a:spcAft>
              </a:pPr>
              <a:r>
                <a:rPr b="1" dirty="0">
                  <a:solidFill>
                    <a:srgbClr val="F87171"/>
                  </a:solidFill>
                  <a:latin typeface="Segoe UI"/>
                </a:rPr>
                <a:t>▸  </a:t>
              </a:r>
              <a:r>
                <a:rPr dirty="0">
                  <a:solidFill>
                    <a:srgbClr val="CBD5E1"/>
                  </a:solidFill>
                  <a:latin typeface="Segoe UI"/>
                </a:rPr>
                <a:t>Existing solutions are either city-locked, proprietary, or do not offer an integrated tracking + booking system.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Existing System / 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301752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Google Maps Transit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Shows static schedule-based transit data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No seat booking or </a:t>
            </a:r>
            <a:r>
              <a:rPr lang="en-IN" dirty="0"/>
              <a:t>crew</a:t>
            </a:r>
            <a:r>
              <a:rPr dirty="0"/>
              <a:t> interaction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Dependent on third-party transit agencies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1737360"/>
            <a:ext cx="34747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City-Specific Apps (BMTC, DTC)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Tied to a single city's transport authority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Often lack real-time GPS tracking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No role-based management dashboards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Fragmented user experience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737360"/>
            <a:ext cx="34747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598" y="1737360"/>
            <a:ext cx="347472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198" y="19659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SMS / IVRS-Based Systems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Users must manually request bus status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No visual map or route visualization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High latency in information delivery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•  No booking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Disadvantages of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23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endParaRPr dirty="0"/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No Real-Time Tracking — Passengers rely on fixed timetables with no live location data.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US" sz="1600" b="1" dirty="0">
                <a:solidFill>
                  <a:srgbClr val="F87171"/>
                </a:solidFill>
                <a:latin typeface="Segoe UI"/>
              </a:rPr>
              <a:t> </a:t>
            </a:r>
            <a:r>
              <a:rPr sz="1600" b="1" dirty="0">
                <a:solidFill>
                  <a:srgbClr val="F87171"/>
                </a:solidFill>
                <a:latin typeface="Segoe UI"/>
              </a:rPr>
              <a:t>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No Seat Booking — Passengers cannot reserve seats, leading to overcrowding and uncertainty.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Lack of Role-Based Dashboards — No unified platform for </a:t>
            </a:r>
            <a:r>
              <a:rPr lang="en-IN" sz="1500" dirty="0">
                <a:solidFill>
                  <a:srgbClr val="CBD5E1"/>
                </a:solidFill>
                <a:latin typeface="Segoe UI"/>
              </a:rPr>
              <a:t>crew members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, admins, and passengers.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Poor Scalability — City-specific solutions cannot be adapted to other regions easily.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No </a:t>
            </a:r>
            <a:r>
              <a:rPr lang="en-IN" sz="1500" dirty="0">
                <a:solidFill>
                  <a:srgbClr val="CBD5E1"/>
                </a:solidFill>
                <a:latin typeface="Segoe UI"/>
              </a:rPr>
              <a:t>crew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 Accountability — No mechanism to monitor </a:t>
            </a:r>
            <a:r>
              <a:rPr lang="en-IN" sz="1500" dirty="0">
                <a:solidFill>
                  <a:srgbClr val="CBD5E1"/>
                </a:solidFill>
                <a:latin typeface="Segoe UI"/>
              </a:rPr>
              <a:t>crew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 trips or routes in real time.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Fragmented Systems — Separate apps for tracking, booking, and management create confusion.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600" b="1" dirty="0">
                <a:solidFill>
                  <a:srgbClr val="F87171"/>
                </a:solidFill>
                <a:latin typeface="Segoe UI"/>
              </a:rPr>
              <a:t>  ✗   </a:t>
            </a:r>
            <a:r>
              <a:rPr sz="1500" dirty="0">
                <a:solidFill>
                  <a:srgbClr val="CBD5E1"/>
                </a:solidFill>
                <a:latin typeface="Segoe UI"/>
              </a:rPr>
              <a:t>Limited Mobile Responsiveness — Many existing systems are not optimized for mobile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36241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Proposed System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4747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Real-Time GPS Tracking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Live bus location updates every 3–5 sec via Socket.IO </a:t>
            </a:r>
            <a:r>
              <a:rPr dirty="0" err="1"/>
              <a:t>WebSockets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59" y="1737360"/>
            <a:ext cx="34747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965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Interactive Map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 err="1"/>
              <a:t>Mapbox</a:t>
            </a:r>
            <a:r>
              <a:rPr dirty="0"/>
              <a:t>-powered map with moving bus markers and route polylines.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598" y="1737360"/>
            <a:ext cx="347472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198" y="1965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rPr dirty="0"/>
              <a:t>ETA Prediction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Speed &amp; distance-based arrival time calculation updated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34747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519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Seat Booking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t>Full digital booking flow — seat selection, confirmation, e-ticket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80559" y="4023360"/>
            <a:ext cx="347472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59" y="4251960"/>
            <a:ext cx="301752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Role-Based Dashboards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Tailored panels for Passengers, </a:t>
            </a:r>
            <a:r>
              <a:rPr lang="en-IN" dirty="0"/>
              <a:t>crew members</a:t>
            </a:r>
            <a:r>
              <a:rPr dirty="0"/>
              <a:t>, and Admins.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2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598" y="4023360"/>
            <a:ext cx="34747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198" y="4251960"/>
            <a:ext cx="301752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Secure Authentication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JWT tokens, CORS protection, and rate limiting.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722261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Workflow of The Proposed Solution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963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1202" y="5239512"/>
            <a:ext cx="7793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BOKING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10 / 12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CC656E4-4369-B2D7-67C8-7E384F42BE26}"/>
              </a:ext>
            </a:extLst>
          </p:cNvPr>
          <p:cNvGrpSpPr/>
          <p:nvPr/>
        </p:nvGrpSpPr>
        <p:grpSpPr>
          <a:xfrm>
            <a:off x="1831942" y="1311531"/>
            <a:ext cx="8528117" cy="5308713"/>
            <a:chOff x="1679948" y="1311531"/>
            <a:chExt cx="8528117" cy="5308713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F344A14-DC3D-5D16-2D3D-4ED18D51896B}"/>
                </a:ext>
              </a:extLst>
            </p:cNvPr>
            <p:cNvGrpSpPr/>
            <p:nvPr/>
          </p:nvGrpSpPr>
          <p:grpSpPr>
            <a:xfrm>
              <a:off x="1679948" y="1311531"/>
              <a:ext cx="3775041" cy="5308713"/>
              <a:chOff x="936071" y="1503790"/>
              <a:chExt cx="3775041" cy="5308713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C4B5869-3240-6F99-DAA6-7E0604B57772}"/>
                  </a:ext>
                </a:extLst>
              </p:cNvPr>
              <p:cNvCxnSpPr>
                <a:cxnSpLocks/>
                <a:stCxn id="57" idx="2"/>
                <a:endCxn id="61" idx="0"/>
              </p:cNvCxnSpPr>
              <p:nvPr/>
            </p:nvCxnSpPr>
            <p:spPr>
              <a:xfrm flipH="1">
                <a:off x="2830920" y="2204610"/>
                <a:ext cx="980" cy="451180"/>
              </a:xfrm>
              <a:prstGeom prst="straightConnector1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3958C505-D904-3EA6-D2FE-57AE71153930}"/>
                  </a:ext>
                </a:extLst>
              </p:cNvPr>
              <p:cNvSpPr/>
              <p:nvPr/>
            </p:nvSpPr>
            <p:spPr>
              <a:xfrm>
                <a:off x="952687" y="1503790"/>
                <a:ext cx="3758425" cy="70082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User Registration </a:t>
                </a:r>
                <a:endParaRPr lang="en-IN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935B9EF1-0436-F980-6AD4-01707C4BE48A}"/>
                  </a:ext>
                </a:extLst>
              </p:cNvPr>
              <p:cNvCxnSpPr>
                <a:cxnSpLocks/>
                <a:stCxn id="61" idx="2"/>
                <a:endCxn id="65" idx="0"/>
              </p:cNvCxnSpPr>
              <p:nvPr/>
            </p:nvCxnSpPr>
            <p:spPr>
              <a:xfrm flipH="1">
                <a:off x="2828572" y="3356610"/>
                <a:ext cx="2348" cy="451180"/>
              </a:xfrm>
              <a:prstGeom prst="straightConnector1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B7A53106-E0B8-5072-63BB-D054F0E84AD1}"/>
                  </a:ext>
                </a:extLst>
              </p:cNvPr>
              <p:cNvSpPr/>
              <p:nvPr/>
            </p:nvSpPr>
            <p:spPr>
              <a:xfrm>
                <a:off x="951707" y="2655790"/>
                <a:ext cx="3758425" cy="70082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Search Routes &amp; Buses  </a:t>
                </a:r>
                <a:endParaRPr lang="en-IN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12D40F5C-0FCF-E7FA-4838-B293B58872FD}"/>
                  </a:ext>
                </a:extLst>
              </p:cNvPr>
              <p:cNvCxnSpPr>
                <a:cxnSpLocks/>
                <a:stCxn id="65" idx="2"/>
                <a:endCxn id="69" idx="0"/>
              </p:cNvCxnSpPr>
              <p:nvPr/>
            </p:nvCxnSpPr>
            <p:spPr>
              <a:xfrm flipH="1">
                <a:off x="2816260" y="4508610"/>
                <a:ext cx="12312" cy="425780"/>
              </a:xfrm>
              <a:prstGeom prst="straightConnector1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9D1835A2-5030-46AF-35A6-0F85E5A1EB85}"/>
                  </a:ext>
                </a:extLst>
              </p:cNvPr>
              <p:cNvSpPr/>
              <p:nvPr/>
            </p:nvSpPr>
            <p:spPr>
              <a:xfrm>
                <a:off x="949359" y="3807790"/>
                <a:ext cx="3758425" cy="70082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Real- Time GPS Tracking / Stop Based Tracking  </a:t>
                </a:r>
                <a:endParaRPr lang="en-IN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8FF2E45B-611C-3903-3D97-814AD6E9B1AD}"/>
                  </a:ext>
                </a:extLst>
              </p:cNvPr>
              <p:cNvCxnSpPr>
                <a:cxnSpLocks/>
                <a:stCxn id="69" idx="2"/>
                <a:endCxn id="72" idx="0"/>
              </p:cNvCxnSpPr>
              <p:nvPr/>
            </p:nvCxnSpPr>
            <p:spPr>
              <a:xfrm flipH="1">
                <a:off x="2815284" y="5635210"/>
                <a:ext cx="976" cy="476473"/>
              </a:xfrm>
              <a:prstGeom prst="straightConnector1">
                <a:avLst/>
              </a:prstGeom>
              <a:ln w="127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3B64C0C2-CA86-6E89-2E83-B877FD2C6875}"/>
                  </a:ext>
                </a:extLst>
              </p:cNvPr>
              <p:cNvSpPr/>
              <p:nvPr/>
            </p:nvSpPr>
            <p:spPr>
              <a:xfrm>
                <a:off x="937047" y="4934390"/>
                <a:ext cx="3758425" cy="70082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Book Seats &amp; Get Tickets   </a:t>
                </a:r>
                <a:endParaRPr lang="en-IN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373AF708-745B-781F-D152-EC8BE0C8110A}"/>
                  </a:ext>
                </a:extLst>
              </p:cNvPr>
              <p:cNvSpPr/>
              <p:nvPr/>
            </p:nvSpPr>
            <p:spPr>
              <a:xfrm>
                <a:off x="936071" y="6111683"/>
                <a:ext cx="3758425" cy="70082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Roboto" panose="02000000000000000000" pitchFamily="2" charset="0"/>
                    <a:ea typeface="Roboto" panose="02000000000000000000" pitchFamily="2" charset="0"/>
                  </a:rPr>
                  <a:t>Live ETA Updates  </a:t>
                </a:r>
                <a:endParaRPr lang="en-IN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34AF9DE-C2AD-990D-C0FD-712C9A79A2AF}"/>
                </a:ext>
              </a:extLst>
            </p:cNvPr>
            <p:cNvGrpSpPr/>
            <p:nvPr/>
          </p:nvGrpSpPr>
          <p:grpSpPr>
            <a:xfrm>
              <a:off x="6514130" y="1691899"/>
              <a:ext cx="3693935" cy="4093458"/>
              <a:chOff x="8189598" y="2087880"/>
              <a:chExt cx="3693935" cy="4093458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9C564199-AFC7-D95E-8F28-F9C47D90F3A9}"/>
                  </a:ext>
                </a:extLst>
              </p:cNvPr>
              <p:cNvGrpSpPr/>
              <p:nvPr/>
            </p:nvGrpSpPr>
            <p:grpSpPr>
              <a:xfrm>
                <a:off x="8189598" y="2087880"/>
                <a:ext cx="3693935" cy="3629237"/>
                <a:chOff x="8189598" y="2087880"/>
                <a:chExt cx="3693935" cy="3629237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88B41503-15D3-7AD7-9F58-1BF456797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213848" y="2117259"/>
                  <a:ext cx="1669685" cy="3599858"/>
                </a:xfrm>
                <a:prstGeom prst="rect">
                  <a:avLst/>
                </a:prstGeom>
              </p:spPr>
            </p:pic>
            <p:pic>
              <p:nvPicPr>
                <p:cNvPr id="79" name="Picture 78">
                  <a:extLst>
                    <a:ext uri="{FF2B5EF4-FFF2-40B4-BE49-F238E27FC236}">
                      <a16:creationId xmlns:a16="http://schemas.microsoft.com/office/drawing/2014/main" id="{59613C54-7D7C-0D80-AD62-8C8C47766F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89598" y="2087880"/>
                  <a:ext cx="1678359" cy="3629237"/>
                </a:xfrm>
                <a:prstGeom prst="rect">
                  <a:avLst/>
                </a:prstGeom>
              </p:spPr>
            </p:pic>
          </p:grp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1FE0BD5-D7A8-A73A-F8CD-96234D968A6F}"/>
                  </a:ext>
                </a:extLst>
              </p:cNvPr>
              <p:cNvSpPr txBox="1"/>
              <p:nvPr/>
            </p:nvSpPr>
            <p:spPr>
              <a:xfrm>
                <a:off x="8412480" y="5815578"/>
                <a:ext cx="3157728" cy="365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CBD5E1"/>
                    </a:solidFill>
                  </a:rPr>
                  <a:t>User interface </a:t>
                </a:r>
                <a:endParaRPr lang="en-IN" dirty="0">
                  <a:solidFill>
                    <a:srgbClr val="CBD5E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Advantages of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1" y="1670177"/>
            <a:ext cx="978903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Real-Time Visibility — Passengers know exactly where their bus is at all times.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Accurate ETAs — Dynamic calculation based on live speed and GPS data.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Seamless Booking — Digital seat selection and e-tickets reduce queues and overcrowding.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Unified Platform — Single app for tracking, booking, and fleet management.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lang="en-IN" sz="1600" dirty="0">
                <a:solidFill>
                  <a:srgbClr val="CBD5E1"/>
                </a:solidFill>
                <a:latin typeface="Segoe UI"/>
              </a:rPr>
              <a:t>Crew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 Monitoring — Admins can track all active trips and </a:t>
            </a:r>
            <a:r>
              <a:rPr lang="en-IN" sz="1600" dirty="0">
                <a:solidFill>
                  <a:srgbClr val="CBD5E1"/>
                </a:solidFill>
                <a:latin typeface="Segoe UI"/>
              </a:rPr>
              <a:t>crew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 performance in real time.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Secure &amp; Reliable — JWT auth, rate limiting, and CORS protection.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1" dirty="0">
                <a:solidFill>
                  <a:srgbClr val="4ADE80"/>
                </a:solidFill>
                <a:latin typeface="Segoe UI"/>
              </a:rPr>
              <a:t> ✓   </a:t>
            </a:r>
            <a:r>
              <a:rPr sz="1600" dirty="0">
                <a:solidFill>
                  <a:srgbClr val="CBD5E1"/>
                </a:solidFill>
                <a:latin typeface="Segoe UI"/>
              </a:rPr>
              <a:t>Mobile-First Design — Fully responsive UI works seamlessly on phones and tablets.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Model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Agile Development Methodology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Iterative development with sprint cycles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Continuous integration &amp; testing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</a:t>
            </a:r>
            <a:r>
              <a:rPr lang="en-IN" dirty="0"/>
              <a:t>  Modular MVC architecture (Model-View-Controller)</a:t>
            </a:r>
            <a:endParaRPr dirty="0"/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RESTful API design principles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WebSocket event-driven communication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Role-Based Access Control (RBAC)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0292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80060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3-Tier Architecture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Presentation Layer — React.js + Tailwind CSS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Business Logic Layer — Node.js + Express.js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Data Layer — MongoDB Atlas (NoSQL)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Real-Time Layer — Socket.IO (WebSocket)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Auth Layer — JWT</a:t>
            </a:r>
            <a:endParaRPr lang="en-US" dirty="0"/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Map Layer — </a:t>
            </a:r>
            <a:r>
              <a:rPr dirty="0" err="1"/>
              <a:t>Mapbox</a:t>
            </a:r>
            <a:r>
              <a:rPr dirty="0"/>
              <a:t> GL / Leaflet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Model Explanation — Data Flow &amp;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2560320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User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Registration, login, JWT auth, profile management, role assignment (Passenger / </a:t>
            </a:r>
            <a:r>
              <a:rPr lang="en-IN" dirty="0"/>
              <a:t>crew</a:t>
            </a:r>
            <a:r>
              <a:rPr dirty="0"/>
              <a:t> / Admin).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63439" y="19659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9" y="192024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Route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CRUD for routes with stops, distances, durations. Admin-managed.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8" y="1737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12478" y="196596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8" y="1920240"/>
            <a:ext cx="256032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rPr dirty="0"/>
              <a:t>Bus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Bus registration, capacity management, </a:t>
            </a:r>
            <a:r>
              <a:rPr lang="en-IN" dirty="0"/>
              <a:t>crew</a:t>
            </a:r>
            <a:r>
              <a:rPr dirty="0"/>
              <a:t> assignment, route linking.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25196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06240"/>
            <a:ext cx="256032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Segoe UI"/>
              </a:defRPr>
            </a:pPr>
            <a:r>
              <a:rPr dirty="0"/>
              <a:t>Trip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rPr lang="en-IN" dirty="0"/>
              <a:t>crew</a:t>
            </a:r>
            <a:r>
              <a:rPr dirty="0"/>
              <a:t> starts/ends trips. GPS coordinates broadcast via Socket.IO every 3–5 sec.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63439" y="425196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420624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Booking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Passengers select seats, confirm bookings, generate digital e-tickets.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8" y="4023360"/>
            <a:ext cx="34747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412478" y="42519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8" y="420624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Real-Time Module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300" b="0">
                <a:solidFill>
                  <a:srgbClr val="CBD5E1"/>
                </a:solidFill>
                <a:latin typeface="Segoe UI"/>
              </a:defRPr>
            </a:pPr>
            <a:r>
              <a:t>Socket.IO handles location broadcast, ETA updates, trip status events.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Hardware &amp; Software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572000" cy="238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dirty="0"/>
              <a:t>Hardware Requirements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Processor: Intel Core i3 or higher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RAM: 4 GB minimum (8 GB recommended)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Storage: 500 MB free disk space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Network: Stable internet connection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GPS: Device with GPS capability (for </a:t>
            </a:r>
            <a:r>
              <a:rPr lang="en-IN" dirty="0"/>
              <a:t>crew members</a:t>
            </a:r>
            <a:r>
              <a:rPr dirty="0"/>
              <a:t>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Display: 1366×768 resolution or higher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02920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02920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57200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Segoe UI"/>
              </a:defRPr>
            </a:pPr>
            <a:r>
              <a:rPr dirty="0"/>
              <a:t>Software Requirements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OS: Windows 10+ / macOS / Linux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Runtime: Node.js v16 or higher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Database: MongoDB Atlas (Cloud)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Browser: Chrome / Firefox / Edge (latest)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IDE: VS Code (recommended)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Tools: Git, </a:t>
            </a:r>
            <a:r>
              <a:rPr dirty="0" err="1"/>
              <a:t>npm</a:t>
            </a:r>
            <a:endParaRPr lang="en-US" dirty="0"/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Maps API: </a:t>
            </a:r>
            <a:r>
              <a:rPr dirty="0" err="1"/>
              <a:t>Mapbox</a:t>
            </a:r>
            <a:r>
              <a:rPr dirty="0"/>
              <a:t> / Leaflet</a:t>
            </a:r>
          </a:p>
          <a:p>
            <a:pPr algn="l">
              <a:spcBef>
                <a:spcPts val="600"/>
              </a:spcBef>
              <a:spcAft>
                <a:spcPts val="400"/>
              </a:spcAft>
              <a:defRPr sz="1400" b="0">
                <a:solidFill>
                  <a:srgbClr val="CBD5E1"/>
                </a:solidFill>
                <a:latin typeface="Segoe UI"/>
              </a:defRPr>
            </a:pPr>
            <a:r>
              <a:rPr dirty="0"/>
              <a:t>•  Deployment: </a:t>
            </a:r>
            <a:r>
              <a:rPr dirty="0" err="1"/>
              <a:t>Vercel</a:t>
            </a:r>
            <a:r>
              <a:rPr dirty="0"/>
              <a:t> (frontend), Railway (backend)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457200"/>
            <a:ext cx="137160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63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Improves efficiency and reliability of public transportation.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Provides accurate, real-time information on bus locations and arrival times.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Uses GPS, mobile connectivity, and data processing technologies.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Reduces passenger uncertainty and waiting time.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Enhances overall travel convenience.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Supports improved route planning and operational decision-making.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  <a:defRPr sz="1600" b="0">
                <a:solidFill>
                  <a:srgbClr val="CBD5E1"/>
                </a:solidFill>
                <a:latin typeface="Segoe UI"/>
              </a:defRPr>
            </a:pPr>
            <a:r>
              <a:rPr lang="en-US" dirty="0"/>
              <a:t>Increases user satisfaction.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7266B7-DA86-946E-BB27-DB203FAD940C}"/>
              </a:ext>
            </a:extLst>
          </p:cNvPr>
          <p:cNvGrpSpPr/>
          <p:nvPr/>
        </p:nvGrpSpPr>
        <p:grpSpPr>
          <a:xfrm>
            <a:off x="914400" y="4933696"/>
            <a:ext cx="10332720" cy="1645920"/>
            <a:chOff x="914400" y="4754880"/>
            <a:chExt cx="10332720" cy="1645920"/>
          </a:xfrm>
        </p:grpSpPr>
        <p:sp>
          <p:nvSpPr>
            <p:cNvPr id="6" name="Rounded Rectangle 5"/>
            <p:cNvSpPr/>
            <p:nvPr/>
          </p:nvSpPr>
          <p:spPr>
            <a:xfrm>
              <a:off x="914400" y="4754880"/>
              <a:ext cx="10332720" cy="1645920"/>
            </a:xfrm>
            <a:prstGeom prst="roundRect">
              <a:avLst/>
            </a:prstGeom>
            <a:solidFill>
              <a:srgbClr val="1E293B"/>
            </a:solidFill>
            <a:ln w="12700">
              <a:solidFill>
                <a:srgbClr val="3344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914400" y="4754880"/>
              <a:ext cx="10332720" cy="5080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43000" y="4983480"/>
              <a:ext cx="9875520" cy="661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800" b="1">
                  <a:solidFill>
                    <a:srgbClr val="4ADE80"/>
                  </a:solidFill>
                  <a:latin typeface="Segoe UI"/>
                </a:defRPr>
              </a:pPr>
              <a:r>
                <a:rPr dirty="0"/>
                <a:t>Future Scope</a:t>
              </a:r>
            </a:p>
            <a:p>
              <a:pPr algn="l">
                <a:spcBef>
                  <a:spcPts val="600"/>
                </a:spcBef>
                <a:spcAft>
                  <a:spcPts val="400"/>
                </a:spcAft>
                <a:defRPr sz="1400" b="0">
                  <a:solidFill>
                    <a:srgbClr val="CBD5E1"/>
                  </a:solidFill>
                  <a:latin typeface="Segoe UI"/>
                </a:defRPr>
              </a:pPr>
              <a:r>
                <a:rPr dirty="0"/>
                <a:t>•  Push notifications for delays  •  QR code ticket scanning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F65AA-3CC3-361A-4194-7182C48F8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59506C-B60B-145A-AE68-DA291B53E6FC}"/>
              </a:ext>
            </a:extLst>
          </p:cNvPr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659558"/>
            <a:ext cx="71628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rPr sz="9400" dirty="0"/>
              <a:t>Thank</a:t>
            </a:r>
            <a:r>
              <a:rPr dirty="0"/>
              <a:t> </a:t>
            </a:r>
            <a:r>
              <a:rPr sz="9400" dirty="0"/>
              <a:t>You!</a:t>
            </a:r>
          </a:p>
        </p:txBody>
      </p:sp>
    </p:spTree>
    <p:extLst>
      <p:ext uri="{BB962C8B-B14F-4D97-AF65-F5344CB8AC3E}">
        <p14:creationId xmlns:p14="http://schemas.microsoft.com/office/powerpoint/2010/main" val="2517490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1102</Words>
  <Application>Microsoft Office PowerPoint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Roboto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Santhosh Kumar R S</cp:lastModifiedBy>
  <cp:revision>9</cp:revision>
  <dcterms:created xsi:type="dcterms:W3CDTF">2013-01-27T09:14:16Z</dcterms:created>
  <dcterms:modified xsi:type="dcterms:W3CDTF">2026-04-08T14:45:35Z</dcterms:modified>
  <cp:category/>
</cp:coreProperties>
</file>